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60" r:id="rId8"/>
    <p:sldId id="261" r:id="rId9"/>
    <p:sldId id="262" r:id="rId10"/>
    <p:sldId id="263" r:id="rId11"/>
    <p:sldId id="259" r:id="rId12"/>
    <p:sldId id="273" r:id="rId13"/>
    <p:sldId id="264" r:id="rId14"/>
    <p:sldId id="274" r:id="rId15"/>
    <p:sldId id="275" r:id="rId16"/>
    <p:sldId id="271" r:id="rId17"/>
    <p:sldId id="272" r:id="rId18"/>
    <p:sldId id="26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2" autoAdjust="0"/>
    <p:restoredTop sz="94660"/>
  </p:normalViewPr>
  <p:slideViewPr>
    <p:cSldViewPr snapToGrid="0">
      <p:cViewPr varScale="1">
        <p:scale>
          <a:sx n="91" d="100"/>
          <a:sy n="91" d="100"/>
        </p:scale>
        <p:origin x="9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172FB7-9ADF-4EBE-8372-75DA236E9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E5C9F7-74CA-4261-96AD-F167F46C5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B7F254-D262-454A-895F-6279887DE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1FC22-72F2-4783-AA79-F96DE2585DFF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C5C237-A880-40F4-8D0E-A5CC36DD2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1F0BB-2ABD-4951-995D-701232E1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407F3-0A8A-4CB4-90CC-DD5A7B3741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39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6DF79A-EF90-4904-ABF5-46115C2F3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AE3C79-1537-48E8-825F-F7D63CE69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28D807-7005-46E0-BAC0-A58E29438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1FC22-72F2-4783-AA79-F96DE2585DFF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BECE2-8634-413B-995C-14C4E10CB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673C87-55E2-4848-81D5-02C59F2D4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407F3-0A8A-4CB4-90CC-DD5A7B3741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97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10885-956A-459E-BC0D-63DBF8205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3F70E2-CE78-4490-8F73-0B83077BA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F635F8-4BE9-44A1-BBB6-694DDA5EB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1FC22-72F2-4783-AA79-F96DE2585DFF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8E7A4F-7962-445C-9B15-D92E4EF1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9BA70F-EBE4-4703-8FCE-D0DDB4711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407F3-0A8A-4CB4-90CC-DD5A7B3741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14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1D4E8-0670-4308-8932-DC4B19DE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18BD29-E1C4-4A31-8769-3F837EB6F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F38158-1362-4BB3-8766-1CC040312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0CFBEC-3208-4555-BE94-B35DE4DEB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1FC22-72F2-4783-AA79-F96DE2585DFF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590CBA-1F55-433C-8B5C-9E75E88F9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8007AC-768D-4C05-88CC-0CE5E38A7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407F3-0A8A-4CB4-90CC-DD5A7B3741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397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225B3B-B630-4D27-B85E-BC3C6037E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035740-B4B2-4EF1-BE9E-B6D320385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32BEE7-C9C6-4525-8EB2-0B84703DB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D3F8DB-AC2E-46B3-9C0C-AEFCCF1BD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75C692-0228-4903-B896-080D15034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8EC7B2-F5BC-47CE-AC75-921A292FD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1FC22-72F2-4783-AA79-F96DE2585DFF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C4BD816-33E2-447F-AEDA-AB35A7E40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607DD2E-9123-4404-9375-29753D65A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407F3-0A8A-4CB4-90CC-DD5A7B3741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667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D6595-B8FD-4A21-BCC0-E6DB69EA4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B5A0C3-EAC2-4A78-B203-0682A4158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1FC22-72F2-4783-AA79-F96DE2585DFF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8827EF-49A7-4A52-8CAF-89035E6A7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45B9A6-9A41-4025-BAE0-2FA6F72A4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407F3-0A8A-4CB4-90CC-DD5A7B3741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08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A904E9A-EEF7-4454-84AE-2EA723E02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1FC22-72F2-4783-AA79-F96DE2585DFF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BF288B-7BA1-4DD2-BF8F-C0E97F85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674EDB-B8B0-4409-9F9D-F0A9564C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407F3-0A8A-4CB4-90CC-DD5A7B3741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950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7BFFC-A96F-4415-8CC6-5ED9A8D8A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131394-EEAF-45FD-A9DF-C18C72988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A605B95-1AF3-4EF8-A8B0-F9FAC3CCF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8DA74E-1108-49A9-B9BA-77C727C13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1FC22-72F2-4783-AA79-F96DE2585DFF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F146CC-F56B-4956-B0C8-F0606B7D5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DF71B-3C98-4508-9424-1CA10BA5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407F3-0A8A-4CB4-90CC-DD5A7B3741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200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DB5965-C200-4B27-916D-9D347A1F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35CAA85-8132-40F0-93AE-33C548D064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941680-A23D-4EDB-BDDA-7A0B38B88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C80DA2-0486-49F0-ADEA-79D20671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1FC22-72F2-4783-AA79-F96DE2585DFF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FDFA74A-6E09-44A7-8B1E-C9C7FB76B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8C7BFF-65F7-404A-B583-032B6108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407F3-0A8A-4CB4-90CC-DD5A7B3741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7788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60859A-5BB9-41E6-8FA4-0449F75C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255F63-7628-4A40-B657-6BF9B45BF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B57A98-F880-4921-ABFD-D801FFE4A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1FC22-72F2-4783-AA79-F96DE2585DFF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94946C-5752-45FE-B253-FF01A9F0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8F4762-3484-4E91-98B5-20A6789C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407F3-0A8A-4CB4-90CC-DD5A7B3741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237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72E77A9-C24E-4A0F-868E-FCF95867FB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D0A88E-2B19-469A-B7B7-029ED24D5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83BBE7-B834-40E7-8F15-1E3FD467E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1FC22-72F2-4783-AA79-F96DE2585DFF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CE4C06-C985-4007-AFD6-8A968F063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BFF20C-AAF9-4CFB-80F8-ADA2FD48C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407F3-0A8A-4CB4-90CC-DD5A7B3741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237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A3FB30-55C1-492E-B0F1-D28301084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61E79D-E9DB-4E20-81E3-DF3A4C543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EFC27A-241C-4AF6-A3F2-C92F2EE76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1FC22-72F2-4783-AA79-F96DE2585DFF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423E33-1F8D-45E9-A0E7-CEEC6751F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1190B8-7BB9-4F32-85A4-76B63DEAF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407F3-0A8A-4CB4-90CC-DD5A7B3741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91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559E9-41B5-4D57-8993-976B0904E9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LAB 2. User level threads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6B1727-4B37-45E6-80D5-B5A33484BC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4534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A2AC1-F036-40AF-A9EB-2E68BE09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Processes in xv6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E3E76B-92A7-48A5-827E-14BD24424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XV6 process states (in </a:t>
            </a:r>
            <a:r>
              <a:rPr lang="en-US" altLang="ko-KR" dirty="0" err="1"/>
              <a:t>proc.h</a:t>
            </a:r>
            <a:r>
              <a:rPr lang="en-US" altLang="ko-KR" dirty="0"/>
              <a:t>) </a:t>
            </a:r>
          </a:p>
          <a:p>
            <a:pPr lvl="1"/>
            <a:r>
              <a:rPr lang="en-US" altLang="ko-KR" dirty="0" err="1"/>
              <a:t>enum</a:t>
            </a:r>
            <a:r>
              <a:rPr lang="en-US" altLang="ko-KR" dirty="0"/>
              <a:t> </a:t>
            </a:r>
            <a:r>
              <a:rPr lang="en-US" altLang="ko-KR" dirty="0" err="1"/>
              <a:t>procstate</a:t>
            </a:r>
            <a:r>
              <a:rPr lang="en-US" altLang="ko-KR" dirty="0"/>
              <a:t> </a:t>
            </a:r>
          </a:p>
          <a:p>
            <a:pPr marL="457200" lvl="1" indent="0">
              <a:buNone/>
            </a:pPr>
            <a:r>
              <a:rPr lang="en-US" altLang="ko-KR" dirty="0"/>
              <a:t>     {UNUSED, EMBRYO, SLEEPING, RUNNABLE, RUNNING, ZOMBIE }; 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UNUSED: not used </a:t>
            </a:r>
          </a:p>
          <a:p>
            <a:pPr lvl="1"/>
            <a:r>
              <a:rPr lang="en-US" altLang="ko-KR" dirty="0"/>
              <a:t>EMBRYO: initialized for new process </a:t>
            </a:r>
          </a:p>
          <a:p>
            <a:pPr lvl="1"/>
            <a:r>
              <a:rPr lang="en-US" altLang="ko-KR" dirty="0"/>
              <a:t>SLEEPING: wait for I/O, wait() or sleep() </a:t>
            </a:r>
          </a:p>
          <a:p>
            <a:pPr lvl="1"/>
            <a:r>
              <a:rPr lang="en-US" altLang="ko-KR" dirty="0"/>
              <a:t>RUNNABLE: ready to run </a:t>
            </a:r>
          </a:p>
          <a:p>
            <a:pPr lvl="1"/>
            <a:r>
              <a:rPr lang="en-US" altLang="ko-KR" dirty="0"/>
              <a:t>RUNNING: running </a:t>
            </a:r>
          </a:p>
          <a:p>
            <a:pPr lvl="1"/>
            <a:r>
              <a:rPr lang="en-US" altLang="ko-KR" dirty="0"/>
              <a:t>ZOMBIE: exited and waiting for parent to call wait()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1597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C718E4-5E7D-451D-849E-6AE767675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xv6 scheduler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E45B84-A716-49E5-91D3-ED6ABBAE0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6333" cy="435133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Switching from one user process to another</a:t>
            </a:r>
          </a:p>
          <a:p>
            <a:pPr marL="0" indent="0">
              <a:buNone/>
            </a:pPr>
            <a:r>
              <a:rPr lang="en-US" altLang="ko-KR" sz="2000" dirty="0"/>
              <a:t>1. User-kernel transition to the kernel thread </a:t>
            </a:r>
          </a:p>
          <a:p>
            <a:pPr marL="0" indent="0">
              <a:buNone/>
            </a:pPr>
            <a:r>
              <a:rPr lang="en-US" altLang="ko-KR" sz="2000" dirty="0"/>
              <a:t>2. Context switch to the current CPU’s scheduler thread </a:t>
            </a:r>
          </a:p>
          <a:p>
            <a:pPr marL="0" indent="0">
              <a:buNone/>
            </a:pPr>
            <a:r>
              <a:rPr lang="en-US" altLang="ko-KR" sz="2000" dirty="0"/>
              <a:t>3. Context switch to a new process’s kernel thread </a:t>
            </a:r>
          </a:p>
          <a:p>
            <a:pPr marL="0" indent="0">
              <a:buNone/>
            </a:pPr>
            <a:r>
              <a:rPr lang="en-US" altLang="ko-KR" sz="2000" dirty="0"/>
              <a:t>4. Trap return to the user-level process</a:t>
            </a:r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6FE872-88D5-4656-A1BA-5A0323A63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7050" y="3429000"/>
            <a:ext cx="53149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94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F5D8D2-5772-47E1-8305-9EA69C7F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scheduler()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13BC29-C7E1-452A-85BB-A74D5C417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proc.c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void scheduler(void) 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Scheduler loop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Choose a RUNNABLE process 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Mark process p’s state to RUNNING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Set the per-CPU current process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Context switch (start running process p)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If process is done running, go to 1.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347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462936-7D25-4187-BEC3-1B838BA87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sched()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1C7460-10E9-4465-8BA6-6900C6BD8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proc.c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void sched(void) </a:t>
            </a:r>
          </a:p>
          <a:p>
            <a:r>
              <a:rPr lang="en-US" altLang="ko-KR" dirty="0"/>
              <a:t>Called from exit(), sleep(), yield() </a:t>
            </a:r>
          </a:p>
          <a:p>
            <a:r>
              <a:rPr lang="en-US" altLang="ko-KR" dirty="0"/>
              <a:t>Context switch (return to scheduler)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9152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4892A-73C3-4CFF-A400-FAA769CB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swtch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BD2F6D-C37D-430B-9780-F83C6D714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swtch.S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void </a:t>
            </a:r>
            <a:r>
              <a:rPr lang="en-US" altLang="ko-KR" dirty="0" err="1"/>
              <a:t>swtch</a:t>
            </a:r>
            <a:r>
              <a:rPr lang="en-US" altLang="ko-KR" dirty="0"/>
              <a:t>(struct context *old, struct context *new) </a:t>
            </a:r>
          </a:p>
          <a:p>
            <a:pPr lvl="1"/>
            <a:r>
              <a:rPr lang="en-US" altLang="ko-KR" dirty="0"/>
              <a:t>Save current registers in old, load from new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7060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74ABF-71A2-4962-BFEC-E4712BE5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System call structures in xv6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04ADC3-BE6C-40CA-AFFA-58534714D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Let us follow the “wait” system call, for example.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System call number</a:t>
            </a:r>
          </a:p>
          <a:p>
            <a:pPr lvl="1"/>
            <a:r>
              <a:rPr lang="en-US" altLang="ko-KR" dirty="0" err="1"/>
              <a:t>syscall.h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Function prototype definition</a:t>
            </a:r>
          </a:p>
          <a:p>
            <a:pPr lvl="1"/>
            <a:r>
              <a:rPr lang="en-US" altLang="ko-KR" dirty="0"/>
              <a:t>For kernel</a:t>
            </a:r>
          </a:p>
          <a:p>
            <a:pPr lvl="2"/>
            <a:r>
              <a:rPr lang="en-US" altLang="ko-KR" dirty="0" err="1"/>
              <a:t>defs.h</a:t>
            </a:r>
            <a:endParaRPr lang="en-US" altLang="ko-KR" dirty="0"/>
          </a:p>
          <a:p>
            <a:pPr lvl="1"/>
            <a:r>
              <a:rPr lang="en-US" altLang="ko-KR" dirty="0"/>
              <a:t>For user applications</a:t>
            </a:r>
          </a:p>
          <a:p>
            <a:pPr lvl="2"/>
            <a:r>
              <a:rPr lang="en-US" altLang="ko-KR" dirty="0" err="1"/>
              <a:t>user.h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Fucntion</a:t>
            </a:r>
            <a:r>
              <a:rPr lang="en-US" altLang="ko-KR" dirty="0"/>
              <a:t> body</a:t>
            </a:r>
          </a:p>
          <a:p>
            <a:pPr lvl="1"/>
            <a:r>
              <a:rPr lang="en-US" altLang="ko-KR" dirty="0" err="1"/>
              <a:t>proc.c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384A84-FBC3-4D1F-AA95-F58AB90C1B4D}"/>
              </a:ext>
            </a:extLst>
          </p:cNvPr>
          <p:cNvSpPr txBox="1"/>
          <p:nvPr/>
        </p:nvSpPr>
        <p:spPr>
          <a:xfrm>
            <a:off x="5734756" y="2679890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#define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3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72C086-DE43-4F49-9C73-7BDCA247703A}"/>
              </a:ext>
            </a:extLst>
          </p:cNvPr>
          <p:cNvSpPr txBox="1"/>
          <p:nvPr/>
        </p:nvSpPr>
        <p:spPr>
          <a:xfrm>
            <a:off x="5734755" y="4243760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int       wait(void);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802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8275CB-3304-4465-BFDE-F4AF80AE1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 table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F74A87-6923-49F8-A537-7506C25D9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8203"/>
            <a:ext cx="10515600" cy="4351338"/>
          </a:xfrm>
        </p:spPr>
        <p:txBody>
          <a:bodyPr/>
          <a:lstStyle/>
          <a:p>
            <a:r>
              <a:rPr lang="en-US" altLang="ko-KR" dirty="0" err="1"/>
              <a:t>syscall.c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35624-9129-439E-8AA8-39800D50C342}"/>
              </a:ext>
            </a:extLst>
          </p:cNvPr>
          <p:cNvSpPr txBox="1"/>
          <p:nvPr/>
        </p:nvSpPr>
        <p:spPr>
          <a:xfrm>
            <a:off x="1224153" y="2697182"/>
            <a:ext cx="487184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extern int 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(void);</a:t>
            </a:r>
          </a:p>
          <a:p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static int (*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syscalls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[])(void) = {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SYS_fork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]   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sys_fork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SYS_exit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]   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sys_exit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]   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SYS_pipe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]   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sys_pipe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4CE96-4136-433A-904C-7F9788D5B694}"/>
              </a:ext>
            </a:extLst>
          </p:cNvPr>
          <p:cNvSpPr txBox="1"/>
          <p:nvPr/>
        </p:nvSpPr>
        <p:spPr>
          <a:xfrm>
            <a:off x="7929070" y="3114009"/>
            <a:ext cx="239039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</a:p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sys_wait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(void)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return wait();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6736A88-60BF-4A4A-BF79-A0B5B5BEEB66}"/>
              </a:ext>
            </a:extLst>
          </p:cNvPr>
          <p:cNvCxnSpPr/>
          <p:nvPr/>
        </p:nvCxnSpPr>
        <p:spPr>
          <a:xfrm flipV="1">
            <a:off x="4538133" y="4165600"/>
            <a:ext cx="3183467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3816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6B5AC-5303-4320-883B-7993C5D2C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Connection between </a:t>
            </a:r>
            <a:r>
              <a:rPr lang="en-US" altLang="ko-KR" dirty="0" err="1"/>
              <a:t>sys_wait</a:t>
            </a:r>
            <a:r>
              <a:rPr lang="en-US" altLang="ko-KR" dirty="0"/>
              <a:t> &amp; wait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890D43-647B-4AB5-A129-EF9BD71103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 err="1"/>
              <a:t>sysproc.c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95A398D-1A76-4B41-A006-83269CD1EB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 err="1"/>
              <a:t>usys.S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E280CC-E357-4B7C-94A7-DFF8494FDA85}"/>
              </a:ext>
            </a:extLst>
          </p:cNvPr>
          <p:cNvSpPr txBox="1"/>
          <p:nvPr/>
        </p:nvSpPr>
        <p:spPr>
          <a:xfrm>
            <a:off x="7379130" y="2342993"/>
            <a:ext cx="445827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#include "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syscall.h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#include "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traps.h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#define SYSCALL(name) \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.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globl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name; \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name: \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movl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$SYS_ ## name, %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; \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int $T_SYSCALL; \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   ret</a:t>
            </a:r>
          </a:p>
          <a:p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SYSCALL(fork)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SYSCALL(exit)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SYSCALL(wait)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79908-AC47-42C7-9A0F-1331AA7F770F}"/>
              </a:ext>
            </a:extLst>
          </p:cNvPr>
          <p:cNvSpPr txBox="1"/>
          <p:nvPr/>
        </p:nvSpPr>
        <p:spPr>
          <a:xfrm>
            <a:off x="484420" y="3003302"/>
            <a:ext cx="7220246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(void)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int num;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struct proc *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curproc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myproc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num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curproc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if(num &gt; 0 &amp;&amp; num &lt; NELEM(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&amp;&amp;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[num]) {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curproc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syscalls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[num]();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} else {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FBEB6EC-5E37-4B4A-B6AA-558ED62098E4}"/>
              </a:ext>
            </a:extLst>
          </p:cNvPr>
          <p:cNvCxnSpPr>
            <a:cxnSpLocks/>
          </p:cNvCxnSpPr>
          <p:nvPr/>
        </p:nvCxnSpPr>
        <p:spPr>
          <a:xfrm flipH="1" flipV="1">
            <a:off x="4910667" y="5091290"/>
            <a:ext cx="2468463" cy="693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27C047A-1A8B-4AC9-B9CC-7FF5093CD915}"/>
              </a:ext>
            </a:extLst>
          </p:cNvPr>
          <p:cNvCxnSpPr/>
          <p:nvPr/>
        </p:nvCxnSpPr>
        <p:spPr>
          <a:xfrm flipH="1">
            <a:off x="3635022" y="4199467"/>
            <a:ext cx="7066845" cy="127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900FF70-ABA0-4DF5-9A46-3BA49830934E}"/>
              </a:ext>
            </a:extLst>
          </p:cNvPr>
          <p:cNvSpPr/>
          <p:nvPr/>
        </p:nvSpPr>
        <p:spPr>
          <a:xfrm>
            <a:off x="10735734" y="3883378"/>
            <a:ext cx="651933" cy="564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498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43C836-65E1-4A7E-B6FB-0E19F7B14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get the arguments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9F99FF-09BC-4C21-8307-359E96979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syscall.c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A424C0-06C3-4515-8DCA-BAF3C5F888E9}"/>
              </a:ext>
            </a:extLst>
          </p:cNvPr>
          <p:cNvSpPr txBox="1"/>
          <p:nvPr/>
        </p:nvSpPr>
        <p:spPr>
          <a:xfrm>
            <a:off x="1411112" y="2782669"/>
            <a:ext cx="62314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argint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(int n, int *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argptr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(int n, char **pp, int size);</a:t>
            </a:r>
          </a:p>
          <a:p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sv-SE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int argstr(int n, char **pp);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56806-6DB0-45D5-802C-2AADBDA2DD23}"/>
              </a:ext>
            </a:extLst>
          </p:cNvPr>
          <p:cNvSpPr txBox="1"/>
          <p:nvPr/>
        </p:nvSpPr>
        <p:spPr>
          <a:xfrm>
            <a:off x="6479822" y="2528711"/>
            <a:ext cx="1623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32-bit integer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4A0C6-76C1-4852-B2DC-75EC7E043E1B}"/>
              </a:ext>
            </a:extLst>
          </p:cNvPr>
          <p:cNvSpPr txBox="1"/>
          <p:nvPr/>
        </p:nvSpPr>
        <p:spPr>
          <a:xfrm>
            <a:off x="7403569" y="3231797"/>
            <a:ext cx="93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pointer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7C8EF7-7777-45D5-B254-07C273E3E27E}"/>
              </a:ext>
            </a:extLst>
          </p:cNvPr>
          <p:cNvSpPr txBox="1"/>
          <p:nvPr/>
        </p:nvSpPr>
        <p:spPr>
          <a:xfrm>
            <a:off x="6937095" y="3890665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string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459283C-83A1-4AD1-A128-B28417E9A0DA}"/>
              </a:ext>
            </a:extLst>
          </p:cNvPr>
          <p:cNvCxnSpPr>
            <a:stCxn id="5" idx="1"/>
          </p:cNvCxnSpPr>
          <p:nvPr/>
        </p:nvCxnSpPr>
        <p:spPr>
          <a:xfrm flipH="1">
            <a:off x="5294489" y="2713377"/>
            <a:ext cx="1185333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1D3818E-D4B5-44E7-86C5-D24F348F9572}"/>
              </a:ext>
            </a:extLst>
          </p:cNvPr>
          <p:cNvCxnSpPr>
            <a:stCxn id="6" idx="1"/>
          </p:cNvCxnSpPr>
          <p:nvPr/>
        </p:nvCxnSpPr>
        <p:spPr>
          <a:xfrm flipH="1">
            <a:off x="6937095" y="3416463"/>
            <a:ext cx="466474" cy="104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A43589D-4CFA-416E-AB69-22C3324838A4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5887155" y="4039753"/>
            <a:ext cx="1049940" cy="35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55F96C1-FCFB-4AFB-8AC7-22B9160F36AB}"/>
              </a:ext>
            </a:extLst>
          </p:cNvPr>
          <p:cNvSpPr txBox="1"/>
          <p:nvPr/>
        </p:nvSpPr>
        <p:spPr>
          <a:xfrm>
            <a:off x="2460978" y="4664482"/>
            <a:ext cx="1624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nth argument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A83CFAF-95F0-4BD2-BFCC-EDCA699902AB}"/>
              </a:ext>
            </a:extLst>
          </p:cNvPr>
          <p:cNvCxnSpPr>
            <a:stCxn id="15" idx="0"/>
          </p:cNvCxnSpPr>
          <p:nvPr/>
        </p:nvCxnSpPr>
        <p:spPr>
          <a:xfrm flipV="1">
            <a:off x="3273028" y="4259997"/>
            <a:ext cx="328128" cy="404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870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9EE6F8-B8C9-4467-8E64-8CB98F65E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Goal: implement a simple user-level threads package in xv6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B38A41-3519-46A5-8C56-8B677FDCE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You’ll be given</a:t>
            </a:r>
          </a:p>
          <a:p>
            <a:pPr lvl="1"/>
            <a:r>
              <a:rPr lang="en-US" altLang="ko-KR" dirty="0"/>
              <a:t>uthread1.c &amp; </a:t>
            </a:r>
            <a:r>
              <a:rPr lang="en-US" altLang="ko-KR" dirty="0" err="1"/>
              <a:t>uthread_switch.S</a:t>
            </a:r>
            <a:endParaRPr lang="en-US" altLang="ko-KR" dirty="0"/>
          </a:p>
          <a:p>
            <a:r>
              <a:rPr lang="en-US" altLang="ko-KR" dirty="0"/>
              <a:t>To-do</a:t>
            </a:r>
          </a:p>
          <a:p>
            <a:pPr lvl="1"/>
            <a:r>
              <a:rPr lang="en-US" altLang="ko-KR" dirty="0"/>
              <a:t>Modify </a:t>
            </a:r>
            <a:r>
              <a:rPr lang="en-US" altLang="ko-KR" dirty="0" err="1"/>
              <a:t>Makefile</a:t>
            </a:r>
            <a:endParaRPr lang="en-US" altLang="ko-KR" dirty="0"/>
          </a:p>
          <a:p>
            <a:pPr lvl="2"/>
            <a:r>
              <a:rPr lang="en-US" altLang="ko-KR" dirty="0"/>
              <a:t>add the next sentences after _</a:t>
            </a:r>
            <a:r>
              <a:rPr lang="en-US" altLang="ko-KR" dirty="0" err="1"/>
              <a:t>forktest</a:t>
            </a:r>
            <a:r>
              <a:rPr lang="en-US" altLang="ko-KR" dirty="0"/>
              <a:t> rule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Add _uthread1 to UPROGS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Complete </a:t>
            </a:r>
            <a:r>
              <a:rPr lang="en-US" altLang="ko-KR" dirty="0" err="1"/>
              <a:t>uthread_switch.S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F6FA5-F3D8-4197-A5BE-119CE47D5912}"/>
              </a:ext>
            </a:extLst>
          </p:cNvPr>
          <p:cNvSpPr txBox="1"/>
          <p:nvPr/>
        </p:nvSpPr>
        <p:spPr>
          <a:xfrm>
            <a:off x="407179" y="4001294"/>
            <a:ext cx="115996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_uthread1: uthread1.o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uthread_switch.o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$(LD) $(LDFLAGS) -N -e main -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Ttext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0 -o _uthread1 uthread1.o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uthread_switch.o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$(ULIB)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$(OBJDUMP) -S _uthread1 &gt; uthread1.asm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636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0A35C-9A56-4C01-96E6-A6DF3B425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(Continued)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3C5A36-18F6-4B22-B53B-23AB3C377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Enable time sharing among user-level threads</a:t>
            </a:r>
          </a:p>
          <a:p>
            <a:pPr lvl="1"/>
            <a:r>
              <a:rPr lang="en-US" altLang="ko-KR" dirty="0"/>
              <a:t>Time sharing threads: A user-level scheduler schedules the threads when a timer interrupt occurs.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It is not very different from process switching.</a:t>
            </a:r>
          </a:p>
          <a:p>
            <a:pPr lvl="1"/>
            <a:r>
              <a:rPr lang="en-US" altLang="ko-KR" dirty="0"/>
              <a:t>You will modify kernel parts including </a:t>
            </a:r>
            <a:r>
              <a:rPr lang="en-US" altLang="ko-KR" b="1" dirty="0" err="1"/>
              <a:t>proc.h</a:t>
            </a:r>
            <a:r>
              <a:rPr lang="en-US" altLang="ko-KR" dirty="0"/>
              <a:t>, </a:t>
            </a:r>
            <a:r>
              <a:rPr lang="en-US" altLang="ko-KR" b="1" dirty="0" err="1"/>
              <a:t>proc.c</a:t>
            </a:r>
            <a:r>
              <a:rPr lang="en-US" altLang="ko-KR" dirty="0"/>
              <a:t>, &amp; </a:t>
            </a:r>
            <a:r>
              <a:rPr lang="en-US" altLang="ko-KR" b="1" dirty="0" err="1"/>
              <a:t>trap.c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9203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B38EE1-59FC-43D6-AECE-498AAAD40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User-level threads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DD50E0-CF7C-40B5-9A0A-013269A8A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User-level thread pointers in uthread1.c</a:t>
            </a:r>
          </a:p>
          <a:p>
            <a:pPr lvl="1"/>
            <a:r>
              <a:rPr lang="en-US" altLang="ko-KR" dirty="0"/>
              <a:t>Two global variables </a:t>
            </a:r>
            <a:r>
              <a:rPr lang="en-US" altLang="ko-KR" dirty="0" err="1"/>
              <a:t>current_thread</a:t>
            </a:r>
            <a:r>
              <a:rPr lang="en-US" altLang="ko-KR" dirty="0"/>
              <a:t> &amp; </a:t>
            </a:r>
            <a:r>
              <a:rPr lang="en-US" altLang="ko-KR" dirty="0" err="1"/>
              <a:t>next_thread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a pointer to a thread structure </a:t>
            </a:r>
          </a:p>
          <a:p>
            <a:pPr lvl="2"/>
            <a:r>
              <a:rPr lang="en-US" altLang="ko-KR" dirty="0"/>
              <a:t>thread structure has a stack for a thread and a saved stack pointer (</a:t>
            </a:r>
            <a:r>
              <a:rPr lang="en-US" altLang="ko-KR" dirty="0" err="1"/>
              <a:t>sp</a:t>
            </a:r>
            <a:r>
              <a:rPr lang="en-US" altLang="ko-KR" dirty="0"/>
              <a:t>). </a:t>
            </a:r>
          </a:p>
          <a:p>
            <a:r>
              <a:rPr lang="en-US" altLang="ko-KR" dirty="0" err="1"/>
              <a:t>thread_switch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save the current thread state into the structure pointed to by </a:t>
            </a:r>
            <a:r>
              <a:rPr lang="en-US" altLang="ko-KR" dirty="0" err="1"/>
              <a:t>current_thread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restore </a:t>
            </a:r>
            <a:r>
              <a:rPr lang="en-US" altLang="ko-KR" dirty="0" err="1"/>
              <a:t>next_thread's</a:t>
            </a:r>
            <a:r>
              <a:rPr lang="en-US" altLang="ko-KR" dirty="0"/>
              <a:t> state</a:t>
            </a:r>
          </a:p>
          <a:p>
            <a:pPr lvl="1"/>
            <a:r>
              <a:rPr lang="en-US" altLang="ko-KR" dirty="0"/>
              <a:t>make </a:t>
            </a:r>
            <a:r>
              <a:rPr lang="en-US" altLang="ko-KR" dirty="0" err="1"/>
              <a:t>current_thread</a:t>
            </a:r>
            <a:r>
              <a:rPr lang="en-US" altLang="ko-KR" dirty="0"/>
              <a:t> point to where </a:t>
            </a:r>
            <a:r>
              <a:rPr lang="en-US" altLang="ko-KR" dirty="0" err="1"/>
              <a:t>next_thread</a:t>
            </a:r>
            <a:r>
              <a:rPr lang="en-US" altLang="ko-KR" dirty="0"/>
              <a:t> was pointing to</a:t>
            </a:r>
          </a:p>
          <a:p>
            <a:pPr lvl="1"/>
            <a:r>
              <a:rPr lang="en-US" altLang="ko-KR" dirty="0"/>
              <a:t>when </a:t>
            </a:r>
            <a:r>
              <a:rPr lang="en-US" altLang="ko-KR" dirty="0" err="1"/>
              <a:t>uthread_switch</a:t>
            </a:r>
            <a:r>
              <a:rPr lang="en-US" altLang="ko-KR" dirty="0"/>
              <a:t> returns </a:t>
            </a:r>
            <a:r>
              <a:rPr lang="en-US" altLang="ko-KR" dirty="0" err="1"/>
              <a:t>next_thread</a:t>
            </a:r>
            <a:r>
              <a:rPr lang="en-US" altLang="ko-KR" dirty="0"/>
              <a:t> is running and is the </a:t>
            </a:r>
            <a:r>
              <a:rPr lang="en-US" altLang="ko-KR" dirty="0" err="1"/>
              <a:t>current_thread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8594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B2B2E-D306-414E-B515-B7B25F261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Registering a user-level scheduler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8E7D40-3218-42BE-8B9A-C292E1152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ko-KR" dirty="0"/>
              <a:t>Make the PCB include the user-level scheduler.</a:t>
            </a:r>
          </a:p>
          <a:p>
            <a:pPr lvl="1"/>
            <a:r>
              <a:rPr lang="en-US" altLang="ko-KR" dirty="0"/>
              <a:t>Modify struct proc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Add a new system call: </a:t>
            </a:r>
            <a:r>
              <a:rPr lang="en-US" altLang="ko-KR" dirty="0" err="1"/>
              <a:t>uthread_init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EA4FE-7A2A-4462-87BF-48D3890BF66D}"/>
              </a:ext>
            </a:extLst>
          </p:cNvPr>
          <p:cNvSpPr txBox="1"/>
          <p:nvPr/>
        </p:nvSpPr>
        <p:spPr>
          <a:xfrm>
            <a:off x="1713091" y="2890391"/>
            <a:ext cx="78824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struct proc {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scheduler;  // address of the user-level scheduler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3817DD-83E6-48A2-BCDE-66BC86ECC64D}"/>
              </a:ext>
            </a:extLst>
          </p:cNvPr>
          <p:cNvSpPr txBox="1"/>
          <p:nvPr/>
        </p:nvSpPr>
        <p:spPr>
          <a:xfrm>
            <a:off x="1713091" y="5032375"/>
            <a:ext cx="9496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uthread_init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(int address); // address of the user-level scheduler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217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377176-2A7E-4EA5-ABDE-50912D1BA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Schedule user-level threads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B3CD60-BDB1-4636-96F0-2A985C99F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02867" cy="4351338"/>
          </a:xfrm>
        </p:spPr>
        <p:txBody>
          <a:bodyPr/>
          <a:lstStyle/>
          <a:p>
            <a:r>
              <a:rPr lang="en-US" altLang="ko-KR" dirty="0"/>
              <a:t>Upon a timer-interrupt, OS is trapped.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You need to make the scheduler work for the current user process.</a:t>
            </a:r>
          </a:p>
          <a:p>
            <a:pPr lvl="1"/>
            <a:r>
              <a:rPr lang="en-US" altLang="ko-KR" dirty="0"/>
              <a:t>You may want to check:</a:t>
            </a:r>
          </a:p>
          <a:p>
            <a:pPr lvl="2"/>
            <a:r>
              <a:rPr lang="en-US" altLang="ko-KR" dirty="0"/>
              <a:t>The user process has multiple threads?</a:t>
            </a:r>
          </a:p>
          <a:p>
            <a:pPr lvl="2"/>
            <a:r>
              <a:rPr lang="en-US" altLang="ko-KR" dirty="0"/>
              <a:t>Is the timer interrupt occurred at kernel mode?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5AAD2-E7E0-47C8-949B-D7CEB0E22CC5}"/>
              </a:ext>
            </a:extLst>
          </p:cNvPr>
          <p:cNvSpPr txBox="1"/>
          <p:nvPr/>
        </p:nvSpPr>
        <p:spPr>
          <a:xfrm>
            <a:off x="7032980" y="2391311"/>
            <a:ext cx="41119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trap(struct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trapframe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switch(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tf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trapno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case T_IRQ0 + IRQ_TIMER: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if(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cpuid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== 0){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…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lapiceoi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// Add new code here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break;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464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6354FD-4834-4F93-B735-2F81AE7F1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Hints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B8395E-38B2-4D9E-B9F9-9622E3FEC1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Study </a:t>
            </a:r>
            <a:r>
              <a:rPr lang="en-US" altLang="ko-KR" sz="2400" dirty="0" err="1"/>
              <a:t>thread_create</a:t>
            </a:r>
            <a:endParaRPr lang="en-US" altLang="ko-KR" sz="2400" dirty="0"/>
          </a:p>
          <a:p>
            <a:pPr lvl="1"/>
            <a:r>
              <a:rPr lang="en-US" altLang="ko-KR" sz="2000" dirty="0"/>
              <a:t>Especially the part where initial stack is set-up.</a:t>
            </a:r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To write the </a:t>
            </a:r>
            <a:r>
              <a:rPr lang="en-US" altLang="ko-KR" sz="2400" dirty="0" err="1"/>
              <a:t>current_thread</a:t>
            </a:r>
            <a:r>
              <a:rPr lang="en-US" altLang="ko-KR" sz="2400" dirty="0"/>
              <a:t>-&gt;</a:t>
            </a:r>
            <a:r>
              <a:rPr lang="en-US" altLang="ko-KR" sz="2400" dirty="0" err="1"/>
              <a:t>sp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pPr marL="457200" lvl="1" indent="0">
              <a:buNone/>
            </a:pPr>
            <a:r>
              <a:rPr lang="en-US" altLang="ko-KR" sz="2000" dirty="0"/>
              <a:t>saves %</a:t>
            </a:r>
            <a:r>
              <a:rPr lang="en-US" altLang="ko-KR" sz="2000" dirty="0" err="1"/>
              <a:t>esp</a:t>
            </a:r>
            <a:r>
              <a:rPr lang="en-US" altLang="ko-KR" sz="2000" dirty="0"/>
              <a:t> to </a:t>
            </a:r>
            <a:r>
              <a:rPr lang="en-US" altLang="ko-KR" sz="2000" dirty="0" err="1"/>
              <a:t>current_thread</a:t>
            </a:r>
            <a:r>
              <a:rPr lang="en-US" altLang="ko-KR" sz="2000" dirty="0"/>
              <a:t>-&gt;sp. (This works because </a:t>
            </a:r>
            <a:r>
              <a:rPr lang="en-US" altLang="ko-KR" sz="2000" dirty="0" err="1"/>
              <a:t>sp</a:t>
            </a:r>
            <a:r>
              <a:rPr lang="en-US" altLang="ko-KR" sz="2000" dirty="0"/>
              <a:t> is at offset 0 in the struct)</a:t>
            </a:r>
            <a:endParaRPr lang="ko-KR" altLang="en-US" sz="2000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740B9F0-021D-4623-95C9-FA4E8FACF4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struct thread in memory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45CD7-F88B-4DD9-BF6F-83839D417987}"/>
              </a:ext>
            </a:extLst>
          </p:cNvPr>
          <p:cNvSpPr txBox="1"/>
          <p:nvPr/>
        </p:nvSpPr>
        <p:spPr>
          <a:xfrm>
            <a:off x="7636934" y="2206645"/>
            <a:ext cx="320886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--------------------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| 4 bytes for state|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--------------------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| stack size bytes |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| for stack        |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--------------------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| 4 bytes for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|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--------------------  &lt;---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current_thread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......</a:t>
            </a:r>
          </a:p>
          <a:p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......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--------------------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| 4 bytes for state|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--------------------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| stack size bytes |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| for stack        |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--------------------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| 4 bytes for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|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--------------------  &lt;---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next_thread</a:t>
            </a:r>
            <a:endParaRPr lang="ko-KR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5ABFB5-21C0-4459-A88B-CB02DC1E9E6B}"/>
              </a:ext>
            </a:extLst>
          </p:cNvPr>
          <p:cNvSpPr txBox="1"/>
          <p:nvPr/>
        </p:nvSpPr>
        <p:spPr>
          <a:xfrm>
            <a:off x="1134535" y="3899416"/>
            <a:ext cx="5994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current_thread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%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movl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esp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(%</a:t>
            </a:r>
            <a:r>
              <a:rPr lang="en-US" altLang="ko-KR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ko-K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ko-KR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456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CFCD01E-9D1C-4F69-AD75-B296BB153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Tips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7E8831C-94DA-4BCE-ADBB-163A4D9DB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Test with </a:t>
            </a:r>
            <a:r>
              <a:rPr lang="en-US" altLang="ko-KR" dirty="0" err="1"/>
              <a:t>gdb</a:t>
            </a:r>
            <a:r>
              <a:rPr lang="en-US" altLang="ko-KR" dirty="0"/>
              <a:t> (example)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1C199F-15C2-464D-8A81-A56BC4910008}"/>
              </a:ext>
            </a:extLst>
          </p:cNvPr>
          <p:cNvSpPr txBox="1"/>
          <p:nvPr/>
        </p:nvSpPr>
        <p:spPr>
          <a:xfrm>
            <a:off x="838200" y="2847132"/>
            <a:ext cx="980157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gdb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symbol-file _uthread1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Load new symbol table from "/home/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mpark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/xv6/_uthread1"? (y or n) y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Reading symbols from /home/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mpark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/xv6/_uthread1...done.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gdb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b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thread_switch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Breakpoint 1 at 0x204: file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uthread_switch.S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line 9.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gdb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p/x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next_thread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$4 = 0x4ae8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gdb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x/9x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next_thread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0x4ae8 :      0x00000000    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0x00000000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0x00000000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0x00000000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0x4af8 :      0x00000000    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0x00000000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0x00000000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0x00000000</a:t>
            </a:r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0x4b08 :      0x000000d8</a:t>
            </a:r>
          </a:p>
        </p:txBody>
      </p:sp>
    </p:spTree>
    <p:extLst>
      <p:ext uri="{BB962C8B-B14F-4D97-AF65-F5344CB8AC3E}">
        <p14:creationId xmlns:p14="http://schemas.microsoft.com/office/powerpoint/2010/main" val="3668349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C80AF-90BE-4D77-B17F-B201B731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BCEA11-1AC4-4F1E-AFD1-D8A71A392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13622" cy="4351338"/>
          </a:xfrm>
        </p:spPr>
        <p:txBody>
          <a:bodyPr>
            <a:normAutofit/>
          </a:bodyPr>
          <a:lstStyle/>
          <a:p>
            <a:r>
              <a:rPr lang="en-US" altLang="ko-KR" dirty="0"/>
              <a:t>uthread1</a:t>
            </a:r>
          </a:p>
          <a:p>
            <a:pPr lvl="1"/>
            <a:r>
              <a:rPr lang="en-US" altLang="ko-KR" dirty="0"/>
              <a:t>Make sure to run QEMU with “CPUS=1”</a:t>
            </a:r>
          </a:p>
          <a:p>
            <a:pPr lvl="2"/>
            <a:r>
              <a:rPr lang="en-US" altLang="ko-KR" dirty="0"/>
              <a:t>Running uthread1 on xv6 without completion, it will print an error message about encountering a page fault.</a:t>
            </a:r>
          </a:p>
          <a:p>
            <a:pPr lvl="1"/>
            <a:r>
              <a:rPr lang="en-US" altLang="ko-KR" dirty="0"/>
              <a:t>It creates two threads and switches back and forth between them. Each thread prints "my thread ...".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4300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AB182-F299-4B8A-8DEF-DDED13F22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DCAA14-1921-48C7-8581-929582A3E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33444" cy="4351338"/>
          </a:xfrm>
        </p:spPr>
        <p:txBody>
          <a:bodyPr/>
          <a:lstStyle/>
          <a:p>
            <a:r>
              <a:rPr lang="en-US" altLang="ko-KR" dirty="0"/>
              <a:t>Running uthread1</a:t>
            </a:r>
          </a:p>
          <a:p>
            <a:pPr lvl="1"/>
            <a:r>
              <a:rPr lang="en-US" altLang="ko-KR" dirty="0"/>
              <a:t>Remind: Make sure to run QEMU with CPUS=1</a:t>
            </a:r>
          </a:p>
          <a:p>
            <a:r>
              <a:rPr lang="en-US" altLang="ko-KR" dirty="0"/>
              <a:t> If implemented correctly, the results will be like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8CC06-42F4-46FB-B79F-62B2BFA429FB}"/>
              </a:ext>
            </a:extLst>
          </p:cNvPr>
          <p:cNvSpPr txBox="1"/>
          <p:nvPr/>
        </p:nvSpPr>
        <p:spPr>
          <a:xfrm>
            <a:off x="8249358" y="449351"/>
            <a:ext cx="320886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$ uthread1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0x49Dd 0x29C8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0x29C8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0x29C8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0x29C8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0x29C8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0x29C8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0x29C8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0x290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0x49D0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0x49D0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0x49D0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0x49D0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0x49D0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0x49D0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0x49D0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0x29C8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0x29C8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0x29C8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0x29C8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0x29C8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0x29C8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0x29C8my thread 0x49D0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0x49D0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thread: exit</a:t>
            </a:r>
          </a:p>
          <a:p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 0x29C8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my thread: exit</a:t>
            </a:r>
          </a:p>
          <a:p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thread_schedule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no runnable threads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endParaRPr lang="ko-KR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E48FC420-FE2E-453F-8065-76C41B2B1CD3}"/>
              </a:ext>
            </a:extLst>
          </p:cNvPr>
          <p:cNvSpPr/>
          <p:nvPr/>
        </p:nvSpPr>
        <p:spPr>
          <a:xfrm>
            <a:off x="3276597" y="3629378"/>
            <a:ext cx="4707467" cy="1241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714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EAA1E-C171-40F6-B2E3-D3EF8E91B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Individual tasks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752759-B0FF-4840-8C49-6DF211753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/>
              <a:t>MAX_THREAD is 10.</a:t>
            </a:r>
          </a:p>
          <a:p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Complete uthread2 by implementing </a:t>
            </a:r>
            <a:r>
              <a:rPr lang="en-US" altLang="ko-KR" dirty="0" err="1"/>
              <a:t>thread_join_all</a:t>
            </a:r>
            <a:r>
              <a:rPr lang="en-US" altLang="ko-KR" dirty="0"/>
              <a:t>()</a:t>
            </a:r>
          </a:p>
          <a:p>
            <a:pPr lvl="1"/>
            <a:r>
              <a:rPr lang="en-US" altLang="ko-KR" dirty="0" err="1"/>
              <a:t>thread_join_all</a:t>
            </a:r>
            <a:r>
              <a:rPr lang="en-US" altLang="ko-KR" dirty="0"/>
              <a:t>() : wait until all child threads finish their executions.</a:t>
            </a:r>
          </a:p>
          <a:p>
            <a:pPr lvl="1"/>
            <a:r>
              <a:rPr lang="en-US" altLang="ko-KR" dirty="0"/>
              <a:t>main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</a:t>
            </a:r>
            <a:r>
              <a:rPr lang="en-US" altLang="ko-KR" dirty="0" err="1"/>
              <a:t>mythread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</a:t>
            </a:r>
            <a:r>
              <a:rPr lang="en-US" altLang="ko-KR" dirty="0" err="1"/>
              <a:t>child_thread</a:t>
            </a:r>
            <a:endParaRPr lang="en-US" altLang="ko-KR" dirty="0"/>
          </a:p>
          <a:p>
            <a:endParaRPr lang="en-US" altLang="ko-KR" dirty="0"/>
          </a:p>
          <a:p>
            <a:pPr marL="514350" indent="-514350">
              <a:buFont typeface="+mj-lt"/>
              <a:buAutoNum type="arabicPeriod" startAt="2"/>
            </a:pPr>
            <a:r>
              <a:rPr lang="en-US" altLang="ko-KR" dirty="0"/>
              <a:t>Complete uthread3 by implementing </a:t>
            </a:r>
            <a:r>
              <a:rPr lang="en-US" altLang="ko-KR" dirty="0" err="1"/>
              <a:t>thread_suspend</a:t>
            </a:r>
            <a:r>
              <a:rPr lang="en-US" altLang="ko-KR" dirty="0"/>
              <a:t>() and </a:t>
            </a:r>
            <a:r>
              <a:rPr lang="en-US" altLang="ko-KR" dirty="0" err="1"/>
              <a:t>thread_resume</a:t>
            </a:r>
            <a:r>
              <a:rPr lang="en-US" altLang="ko-KR" dirty="0"/>
              <a:t>()</a:t>
            </a:r>
          </a:p>
          <a:p>
            <a:pPr lvl="1"/>
            <a:r>
              <a:rPr lang="en-US" altLang="ko-KR" dirty="0" err="1"/>
              <a:t>thread_suspend</a:t>
            </a:r>
            <a:r>
              <a:rPr lang="en-US" altLang="ko-KR" dirty="0"/>
              <a:t>(</a:t>
            </a:r>
            <a:r>
              <a:rPr lang="en-US" altLang="ko-KR" dirty="0" err="1"/>
              <a:t>tid</a:t>
            </a:r>
            <a:r>
              <a:rPr lang="en-US" altLang="ko-KR" dirty="0"/>
              <a:t>) : suspend the thread with </a:t>
            </a:r>
            <a:r>
              <a:rPr lang="en-US" altLang="ko-KR" dirty="0" err="1"/>
              <a:t>tid</a:t>
            </a:r>
            <a:endParaRPr lang="en-US" altLang="ko-KR" dirty="0"/>
          </a:p>
          <a:p>
            <a:pPr lvl="1"/>
            <a:r>
              <a:rPr lang="en-US" altLang="ko-KR" dirty="0" err="1"/>
              <a:t>thread_resume</a:t>
            </a:r>
            <a:r>
              <a:rPr lang="en-US" altLang="ko-KR" dirty="0"/>
              <a:t>(</a:t>
            </a:r>
            <a:r>
              <a:rPr lang="en-US" altLang="ko-KR" dirty="0" err="1"/>
              <a:t>tid</a:t>
            </a:r>
            <a:r>
              <a:rPr lang="en-US" altLang="ko-KR" dirty="0"/>
              <a:t>) : resume execution of the thread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514350" indent="-514350">
              <a:buFont typeface="+mj-lt"/>
              <a:buAutoNum type="arabicPeriod" startAt="3"/>
            </a:pPr>
            <a:r>
              <a:rPr lang="en-US" altLang="ko-KR" dirty="0"/>
              <a:t>Complete uthread4 by implementing </a:t>
            </a:r>
            <a:r>
              <a:rPr lang="en-US" altLang="ko-KR" dirty="0" err="1"/>
              <a:t>thread_join</a:t>
            </a:r>
            <a:r>
              <a:rPr lang="en-US" altLang="ko-KR" dirty="0"/>
              <a:t>()</a:t>
            </a:r>
          </a:p>
          <a:p>
            <a:pPr lvl="1"/>
            <a:r>
              <a:rPr lang="en-US" altLang="ko-KR" dirty="0" err="1"/>
              <a:t>thread_join</a:t>
            </a:r>
            <a:r>
              <a:rPr lang="en-US" altLang="ko-KR" dirty="0"/>
              <a:t>(</a:t>
            </a:r>
            <a:r>
              <a:rPr lang="en-US" altLang="ko-KR" dirty="0" err="1"/>
              <a:t>tid</a:t>
            </a:r>
            <a:r>
              <a:rPr lang="en-US" altLang="ko-KR" dirty="0"/>
              <a:t>) : wait until the child thread with </a:t>
            </a:r>
            <a:r>
              <a:rPr lang="en-US" altLang="ko-KR" dirty="0" err="1"/>
              <a:t>tid</a:t>
            </a:r>
            <a:r>
              <a:rPr lang="en-US" altLang="ko-KR" dirty="0"/>
              <a:t> finishes its execution.</a:t>
            </a:r>
          </a:p>
          <a:p>
            <a:pPr lvl="1"/>
            <a:r>
              <a:rPr lang="en-US" altLang="ko-KR" dirty="0"/>
              <a:t>main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</a:t>
            </a:r>
            <a:r>
              <a:rPr lang="en-US" altLang="ko-KR" dirty="0" err="1"/>
              <a:t>mythread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</a:t>
            </a:r>
            <a:r>
              <a:rPr lang="en-US" altLang="ko-KR" dirty="0" err="1"/>
              <a:t>child_thread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3262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0FC7D-90B6-4FD3-B192-EEC81A6A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Report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7ABA33-F88B-441F-BF48-BE449FC52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46076" cy="4351338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Part 1:</a:t>
            </a:r>
            <a:r>
              <a:rPr lang="ko-KR" altLang="en-US" dirty="0"/>
              <a:t> </a:t>
            </a:r>
            <a:r>
              <a:rPr lang="en-US" altLang="ko-KR" dirty="0"/>
              <a:t>Team project</a:t>
            </a:r>
          </a:p>
          <a:p>
            <a:pPr lvl="1"/>
            <a:r>
              <a:rPr lang="ko-KR" altLang="en-US" dirty="0"/>
              <a:t>팀 전체 작성</a:t>
            </a:r>
            <a:endParaRPr lang="en-US" altLang="ko-KR" dirty="0"/>
          </a:p>
          <a:p>
            <a:pPr lvl="1"/>
            <a:r>
              <a:rPr lang="ko-KR" altLang="en-US" dirty="0"/>
              <a:t>포함 내용</a:t>
            </a:r>
            <a:endParaRPr lang="en-US" altLang="ko-KR" dirty="0"/>
          </a:p>
          <a:p>
            <a:pPr lvl="2"/>
            <a:r>
              <a:rPr lang="ko-KR" altLang="en-US" dirty="0"/>
              <a:t>과제 수행을 위한 </a:t>
            </a:r>
            <a:r>
              <a:rPr lang="en-US" altLang="ko-KR" dirty="0"/>
              <a:t>xv6 </a:t>
            </a:r>
            <a:r>
              <a:rPr lang="ko-KR" altLang="en-US" dirty="0"/>
              <a:t>분석</a:t>
            </a:r>
            <a:endParaRPr lang="en-US" altLang="ko-KR" dirty="0"/>
          </a:p>
          <a:p>
            <a:pPr lvl="2"/>
            <a:r>
              <a:rPr lang="ko-KR" altLang="en-US" dirty="0"/>
              <a:t>설계 및 구현 내용</a:t>
            </a:r>
            <a:endParaRPr lang="en-US" altLang="ko-KR" dirty="0"/>
          </a:p>
          <a:p>
            <a:pPr lvl="2"/>
            <a:r>
              <a:rPr lang="ko-KR" altLang="en-US" dirty="0"/>
              <a:t>수행 결과</a:t>
            </a:r>
            <a:endParaRPr lang="en-US" altLang="ko-KR" dirty="0"/>
          </a:p>
          <a:p>
            <a:r>
              <a:rPr lang="en-US" altLang="ko-KR" dirty="0"/>
              <a:t>Part 2: Individual tasks</a:t>
            </a:r>
          </a:p>
          <a:p>
            <a:pPr lvl="1"/>
            <a:r>
              <a:rPr lang="ko-KR" altLang="en-US" dirty="0"/>
              <a:t>개인 작성</a:t>
            </a:r>
            <a:r>
              <a:rPr lang="en-US" altLang="ko-KR" dirty="0"/>
              <a:t>, Part 1 </a:t>
            </a:r>
            <a:r>
              <a:rPr lang="ko-KR" altLang="en-US" dirty="0"/>
              <a:t>다음에 차례대로</a:t>
            </a:r>
            <a:endParaRPr lang="en-US" altLang="ko-KR" dirty="0"/>
          </a:p>
          <a:p>
            <a:pPr lvl="1"/>
            <a:r>
              <a:rPr lang="ko-KR" altLang="en-US" dirty="0"/>
              <a:t>포함 내용</a:t>
            </a:r>
            <a:endParaRPr lang="en-US" altLang="ko-KR" dirty="0"/>
          </a:p>
          <a:p>
            <a:pPr lvl="2"/>
            <a:r>
              <a:rPr lang="ko-KR" altLang="en-US" dirty="0"/>
              <a:t>과제 수행자 학번 </a:t>
            </a:r>
            <a:r>
              <a:rPr lang="en-US" altLang="ko-KR" dirty="0"/>
              <a:t>&amp; </a:t>
            </a:r>
            <a:r>
              <a:rPr lang="ko-KR" altLang="en-US" dirty="0"/>
              <a:t>이름</a:t>
            </a:r>
            <a:endParaRPr lang="en-US" altLang="ko-KR" dirty="0"/>
          </a:p>
          <a:p>
            <a:pPr lvl="2"/>
            <a:r>
              <a:rPr lang="ko-KR" altLang="en-US" dirty="0"/>
              <a:t>설계 및 구현 내용</a:t>
            </a:r>
            <a:endParaRPr lang="en-US" altLang="ko-KR" dirty="0"/>
          </a:p>
          <a:p>
            <a:pPr lvl="2"/>
            <a:r>
              <a:rPr lang="ko-KR" altLang="en-US" dirty="0"/>
              <a:t>수행 결과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7EA9C3-FF4F-4DEC-B3C2-0A487CB1CFA7}"/>
              </a:ext>
            </a:extLst>
          </p:cNvPr>
          <p:cNvSpPr txBox="1"/>
          <p:nvPr/>
        </p:nvSpPr>
        <p:spPr>
          <a:xfrm>
            <a:off x="7535917" y="121028"/>
            <a:ext cx="1608083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팀보고서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sz="1400" dirty="0"/>
              <a:t>1. xv6</a:t>
            </a:r>
            <a:r>
              <a:rPr lang="ko-KR" altLang="en-US" sz="1400" dirty="0"/>
              <a:t> 분석</a:t>
            </a:r>
            <a:endParaRPr lang="en-US" altLang="ko-KR" sz="1400" dirty="0"/>
          </a:p>
          <a:p>
            <a:r>
              <a:rPr lang="en-US" altLang="ko-KR" dirty="0"/>
              <a:t>…</a:t>
            </a:r>
          </a:p>
          <a:p>
            <a:r>
              <a:rPr lang="en-US" altLang="ko-KR" sz="1400" dirty="0"/>
              <a:t>2. </a:t>
            </a:r>
            <a:r>
              <a:rPr lang="ko-KR" altLang="en-US" sz="1400" dirty="0"/>
              <a:t>설계 및 구현</a:t>
            </a:r>
            <a:endParaRPr lang="en-US" altLang="ko-KR" sz="1400" dirty="0"/>
          </a:p>
          <a:p>
            <a:r>
              <a:rPr lang="en-US" altLang="ko-KR" sz="1400" dirty="0"/>
              <a:t>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20C3DB-3A20-4643-AFA5-D591D425EE2B}"/>
              </a:ext>
            </a:extLst>
          </p:cNvPr>
          <p:cNvSpPr txBox="1"/>
          <p:nvPr/>
        </p:nvSpPr>
        <p:spPr>
          <a:xfrm>
            <a:off x="7535917" y="1846258"/>
            <a:ext cx="1608083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…</a:t>
            </a:r>
          </a:p>
          <a:p>
            <a:endParaRPr lang="en-US" altLang="ko-KR" sz="1400" dirty="0"/>
          </a:p>
          <a:p>
            <a:r>
              <a:rPr lang="en-US" altLang="ko-KR" sz="1400" dirty="0"/>
              <a:t>3. </a:t>
            </a:r>
            <a:r>
              <a:rPr lang="ko-KR" altLang="en-US" sz="1400" dirty="0"/>
              <a:t>수행결과</a:t>
            </a:r>
            <a:endParaRPr lang="en-US" altLang="ko-KR" sz="1400" dirty="0"/>
          </a:p>
          <a:p>
            <a:r>
              <a:rPr lang="en-US" altLang="ko-KR" dirty="0"/>
              <a:t>…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F0732E-F3C0-48F1-A744-459FF9A8C16E}"/>
              </a:ext>
            </a:extLst>
          </p:cNvPr>
          <p:cNvSpPr txBox="1"/>
          <p:nvPr/>
        </p:nvSpPr>
        <p:spPr>
          <a:xfrm>
            <a:off x="7535916" y="3571488"/>
            <a:ext cx="1608083" cy="15388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개인과제 </a:t>
            </a:r>
            <a:r>
              <a:rPr lang="en-US" altLang="ko-KR" sz="1400" dirty="0"/>
              <a:t>: uthread2</a:t>
            </a:r>
          </a:p>
          <a:p>
            <a:endParaRPr lang="en-US" altLang="ko-KR" sz="1200" dirty="0"/>
          </a:p>
          <a:p>
            <a:r>
              <a:rPr lang="ko-KR" altLang="en-US" sz="1200" dirty="0"/>
              <a:t>학번</a:t>
            </a:r>
            <a:r>
              <a:rPr lang="en-US" altLang="ko-KR" sz="1200" dirty="0"/>
              <a:t>:…   </a:t>
            </a:r>
            <a:r>
              <a:rPr lang="ko-KR" altLang="en-US" sz="1200" dirty="0"/>
              <a:t>이름</a:t>
            </a:r>
            <a:r>
              <a:rPr lang="en-US" altLang="ko-KR" sz="1200" dirty="0"/>
              <a:t>:…</a:t>
            </a:r>
          </a:p>
          <a:p>
            <a:endParaRPr lang="en-US" altLang="ko-KR" sz="1200" dirty="0"/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설계 및 구현</a:t>
            </a:r>
            <a:endParaRPr lang="en-US" altLang="ko-KR" sz="1200" dirty="0"/>
          </a:p>
          <a:p>
            <a:r>
              <a:rPr lang="en-US" altLang="ko-KR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54BD59-80ED-4089-9434-6E145A41504A}"/>
              </a:ext>
            </a:extLst>
          </p:cNvPr>
          <p:cNvSpPr txBox="1"/>
          <p:nvPr/>
        </p:nvSpPr>
        <p:spPr>
          <a:xfrm>
            <a:off x="7546429" y="5237426"/>
            <a:ext cx="1608083" cy="15388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개인과제 </a:t>
            </a:r>
            <a:r>
              <a:rPr lang="en-US" altLang="ko-KR" sz="1400" dirty="0"/>
              <a:t>: uthread3</a:t>
            </a:r>
          </a:p>
          <a:p>
            <a:endParaRPr lang="en-US" altLang="ko-KR" sz="1200" dirty="0"/>
          </a:p>
          <a:p>
            <a:r>
              <a:rPr lang="ko-KR" altLang="en-US" sz="1200" dirty="0"/>
              <a:t>학번</a:t>
            </a:r>
            <a:r>
              <a:rPr lang="en-US" altLang="ko-KR" sz="1200" dirty="0"/>
              <a:t>:…   </a:t>
            </a:r>
            <a:r>
              <a:rPr lang="ko-KR" altLang="en-US" sz="1200" dirty="0"/>
              <a:t>이름</a:t>
            </a:r>
            <a:r>
              <a:rPr lang="en-US" altLang="ko-KR" sz="1200" dirty="0"/>
              <a:t>:…</a:t>
            </a:r>
          </a:p>
          <a:p>
            <a:endParaRPr lang="en-US" altLang="ko-KR" sz="1200" dirty="0"/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설계 및 구현</a:t>
            </a:r>
            <a:endParaRPr lang="en-US" altLang="ko-KR" sz="1200" dirty="0"/>
          </a:p>
          <a:p>
            <a:r>
              <a:rPr lang="en-US" altLang="ko-KR" dirty="0"/>
              <a:t>…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788C7BA-C49B-451F-BEFA-3C1655735951}"/>
              </a:ext>
            </a:extLst>
          </p:cNvPr>
          <p:cNvCxnSpPr/>
          <p:nvPr/>
        </p:nvCxnSpPr>
        <p:spPr>
          <a:xfrm flipH="1">
            <a:off x="9280634" y="3777231"/>
            <a:ext cx="683173" cy="13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AB974DA-E6FF-462B-94A8-FF437332C21C}"/>
              </a:ext>
            </a:extLst>
          </p:cNvPr>
          <p:cNvSpPr txBox="1"/>
          <p:nvPr/>
        </p:nvSpPr>
        <p:spPr>
          <a:xfrm>
            <a:off x="9963807" y="3571488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새로운 페이지로</a:t>
            </a:r>
            <a:endParaRPr lang="en-US" altLang="ko-KR" dirty="0"/>
          </a:p>
          <a:p>
            <a:r>
              <a:rPr lang="ko-KR" altLang="en-US" dirty="0"/>
              <a:t>시작</a:t>
            </a:r>
            <a:endParaRPr lang="en-US" altLang="ko-KR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D995F99-30FC-4D21-9E37-6814A9B21DB7}"/>
              </a:ext>
            </a:extLst>
          </p:cNvPr>
          <p:cNvCxnSpPr/>
          <p:nvPr/>
        </p:nvCxnSpPr>
        <p:spPr>
          <a:xfrm flipH="1">
            <a:off x="9280634" y="5443169"/>
            <a:ext cx="683173" cy="13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078946B-388B-4059-B504-DA45AB0D54D0}"/>
              </a:ext>
            </a:extLst>
          </p:cNvPr>
          <p:cNvSpPr txBox="1"/>
          <p:nvPr/>
        </p:nvSpPr>
        <p:spPr>
          <a:xfrm>
            <a:off x="9963807" y="5237426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새로운 페이지로</a:t>
            </a:r>
            <a:endParaRPr lang="en-US" altLang="ko-KR" dirty="0"/>
          </a:p>
          <a:p>
            <a:r>
              <a:rPr lang="ko-KR" altLang="en-US" dirty="0"/>
              <a:t>시작</a:t>
            </a:r>
          </a:p>
        </p:txBody>
      </p:sp>
    </p:spTree>
    <p:extLst>
      <p:ext uri="{BB962C8B-B14F-4D97-AF65-F5344CB8AC3E}">
        <p14:creationId xmlns:p14="http://schemas.microsoft.com/office/powerpoint/2010/main" val="3941666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1573</Words>
  <Application>Microsoft Office PowerPoint</Application>
  <PresentationFormat>와이드스크린</PresentationFormat>
  <Paragraphs>312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맑은 고딕</vt:lpstr>
      <vt:lpstr>Arial</vt:lpstr>
      <vt:lpstr>Courier New</vt:lpstr>
      <vt:lpstr>Wingdings</vt:lpstr>
      <vt:lpstr>Office 테마</vt:lpstr>
      <vt:lpstr>LAB 2. User level threads</vt:lpstr>
      <vt:lpstr>1. Processes in xv6</vt:lpstr>
      <vt:lpstr>xv6 scheduler</vt:lpstr>
      <vt:lpstr>scheduler()</vt:lpstr>
      <vt:lpstr>sched()</vt:lpstr>
      <vt:lpstr>swtch()</vt:lpstr>
      <vt:lpstr>2. System call structures in xv6</vt:lpstr>
      <vt:lpstr>System call table</vt:lpstr>
      <vt:lpstr>Connection between sys_wait &amp; wait</vt:lpstr>
      <vt:lpstr>How to get the arguments</vt:lpstr>
      <vt:lpstr>Goal: implement a simple user-level threads package in xv6</vt:lpstr>
      <vt:lpstr>(Continued)</vt:lpstr>
      <vt:lpstr>User-level threads</vt:lpstr>
      <vt:lpstr>Registering a user-level scheduler</vt:lpstr>
      <vt:lpstr>Schedule user-level threads</vt:lpstr>
      <vt:lpstr>Hints</vt:lpstr>
      <vt:lpstr>Tips</vt:lpstr>
      <vt:lpstr>Test</vt:lpstr>
      <vt:lpstr>Test</vt:lpstr>
      <vt:lpstr>Individual tasks</vt:lpstr>
      <vt:lpstr>Report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2. UNIX-style exit</dc:title>
  <dc:creator>Moonju Park</dc:creator>
  <cp:lastModifiedBy>Moonju Park</cp:lastModifiedBy>
  <cp:revision>55</cp:revision>
  <dcterms:created xsi:type="dcterms:W3CDTF">2024-02-07T23:57:28Z</dcterms:created>
  <dcterms:modified xsi:type="dcterms:W3CDTF">2025-03-26T22:32:20Z</dcterms:modified>
</cp:coreProperties>
</file>