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2" r:id="rId6"/>
    <p:sldId id="261" r:id="rId7"/>
    <p:sldId id="263" r:id="rId8"/>
    <p:sldId id="265" r:id="rId9"/>
    <p:sldId id="268" r:id="rId10"/>
    <p:sldId id="258" r:id="rId11"/>
    <p:sldId id="269" r:id="rId12"/>
    <p:sldId id="270" r:id="rId13"/>
    <p:sldId id="264" r:id="rId14"/>
    <p:sldId id="266" r:id="rId15"/>
    <p:sldId id="267" r:id="rId16"/>
    <p:sldId id="271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>
      <p:cViewPr varScale="1">
        <p:scale>
          <a:sx n="91" d="100"/>
          <a:sy n="91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6ABC45-580A-406E-8E49-C7B6BBFBC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6CC0C5-E46F-4505-B8C0-CFC128E57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B14D0C-FC09-497F-8056-2F1B464E9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17CF3-9615-4D0C-AF78-2A536F8E2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2F20A-88CA-4738-B531-BF4A7299D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7002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793A5E-FB44-4C92-AA7D-C2D02C16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9C7A49-A064-4723-AF80-2C2587579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CA82F-7206-4232-9103-FA727FC41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C48619-1BE6-477B-95DF-BC8BEBBC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194C5B-C076-4541-BC79-AB6693FE9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4877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020C4D-E514-4CB2-A3D5-42749D74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70CF6C-9801-41C8-B121-0EE0A76EB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48781A-8BB4-4F53-A4D4-049122ADB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9D55BD-E640-4304-829B-2006211E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9E42D-50C2-456E-89E5-B5F85D6B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7378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FC9FEE-E7CD-4FF8-82E2-F0A8BE599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5DEA4C-DB09-4E4E-B053-D4E6CF365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BD7A9BE-13D9-41E8-9453-326850A18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AB0CDA-1A9F-4482-8649-12EDEE789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46C95D0-95F9-4750-A321-17975DD82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BDC260-98C6-4E84-B023-2888FBC6A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66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04830-2A4F-489F-9EDD-9A59407A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4A674-C145-4262-B99D-83359890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6EED89C-6297-4B35-A6A6-A8CD467FF7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7253D3-D143-41B5-8B22-D2C566E35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5A2B094-B500-464F-B956-1754425C6E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41F0D6-BEFE-4C13-A06F-72A85FE8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C71BDF3-7F96-450B-967A-B9EA692E9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99D9037-0BCD-425E-92B2-EC6C8204F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233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063D47-2651-4676-9BFE-20619EE5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ABA234B-AAAC-430D-8B86-63E738EA3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E81F0CB-6CA9-4BEB-944C-8BCBB221E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F9692D-C2FF-4DAB-80EC-788D37AF2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49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2E10FF-C428-411C-9595-94DB81249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262B9F-5EDD-4C97-901D-23AD1BB3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D4567D-2350-4B44-B419-E7AB92C2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9905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797124-A2F8-497B-8CD3-0CD9D4648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277E0C-47AB-49C5-8FB4-125F1C00F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DA2835-2360-4656-AF0A-5F05B1A3B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979C08B-0D71-464C-A3B1-E149895B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141A5D4-6891-474E-9395-3A1C7D24A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88C4856-65BE-405F-A834-71D846A16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4948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4A6B9-D107-46DA-A02D-520713D2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405246E-7ECB-4DB2-9527-0E33F8D68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437A78-D397-4AAE-A358-BBE595B58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2DCFC0-8DFF-42EE-B48F-06D530369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67323C-6E8A-49A6-8480-768254C2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28DCAA-CB81-4E37-920E-838385C61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89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AAE0A5-FD68-4BF3-8FEE-774F0580C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4B481D-3A0B-4948-8FF8-771CB15833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A0E4EA-700D-469F-8574-39DFF7C55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959EFB-C41C-4653-B22B-D9A4DF13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8D421C-2C64-49E4-9534-2E6AA14F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3742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5AF80B-084E-44A7-8022-C4E8BFFAB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DE75180-392E-441C-894D-399C6E5049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1473BDA-7309-489A-9B85-F7EAF7DC7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38D633-63A8-4774-BDC7-2EB67F00F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902B08-354E-4B7B-A7F5-2838CDB6B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531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EE1C23-7EE3-4E1D-8F5A-2335609B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6CA952-CE63-4AEB-B293-DD83BEF60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BEB013-F959-4CC8-A427-7206C5B75A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E5E86-4CF4-4424-9EA7-C8CDA7605C4B}" type="datetimeFigureOut">
              <a:rPr lang="ko-KR" altLang="en-US" smtClean="0"/>
              <a:t>2025-03-15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3BF727-B1D5-4F68-9C87-BE226C885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41F070-2ABE-4944-BCAC-94E9B6B01D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A1C16-A192-406A-AE33-E52625BD64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792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t-pdos/xv6-public" TargetMode="External"/><Relationship Id="rId2" Type="http://schemas.openxmlformats.org/officeDocument/2006/relationships/hyperlink" Target="https://pdos.csail.mit.edu/6.828/2018/xv6/book-rev11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moonjupark/xv6edk2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FD104-60F4-451E-A7A4-195C551937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Lab 1. Warming</a:t>
            </a:r>
            <a:r>
              <a:rPr lang="ko-KR" altLang="en-US" dirty="0"/>
              <a:t> </a:t>
            </a:r>
            <a:r>
              <a:rPr lang="en-US" altLang="ko-KR" dirty="0"/>
              <a:t>up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2CA8B7D-E9E4-4A24-9E97-05E5830091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Booting xv6 &amp; executing applications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8210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793BF-0090-4F38-AC69-5716F5AF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xv6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CD094-F050-4AB0-9374-9DBB4FF6D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xv6</a:t>
            </a:r>
            <a:r>
              <a:rPr lang="ko-KR" altLang="en-US" dirty="0"/>
              <a:t> </a:t>
            </a:r>
            <a:r>
              <a:rPr lang="en-US" altLang="ko-KR" dirty="0"/>
              <a:t>book</a:t>
            </a:r>
          </a:p>
          <a:p>
            <a:pPr lvl="1"/>
            <a:r>
              <a:rPr lang="en-US" altLang="ko-KR" dirty="0">
                <a:hlinkClick r:id="rId2"/>
              </a:rPr>
              <a:t>https://pdos.csail.mit.edu/6.828/2018/xv6/book-rev11.pdf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xv6 source codes</a:t>
            </a:r>
          </a:p>
          <a:p>
            <a:pPr lvl="1"/>
            <a:r>
              <a:rPr lang="en-US" altLang="ko-KR" dirty="0" err="1"/>
              <a:t>Github</a:t>
            </a:r>
            <a:r>
              <a:rPr lang="en-US" altLang="ko-KR" dirty="0"/>
              <a:t>: </a:t>
            </a:r>
            <a:r>
              <a:rPr lang="en-US" altLang="ko-KR" dirty="0">
                <a:hlinkClick r:id="rId3"/>
              </a:rPr>
              <a:t>https://github.com/mit-pdos/xv6-public</a:t>
            </a:r>
            <a:endParaRPr lang="en-US" altLang="ko-KR" dirty="0"/>
          </a:p>
          <a:p>
            <a:pPr lvl="1"/>
            <a:r>
              <a:rPr lang="en-US" altLang="ko-KR" dirty="0"/>
              <a:t>For our projects: </a:t>
            </a:r>
            <a:r>
              <a:rPr lang="en-US" altLang="ko-KR" dirty="0">
                <a:hlinkClick r:id="rId4"/>
              </a:rPr>
              <a:t>https://github.com/moonjupark/xv6edk2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xv6 source codes for UEFI booting</a:t>
            </a:r>
          </a:p>
          <a:p>
            <a:pPr lvl="1"/>
            <a:r>
              <a:rPr lang="en-US" altLang="ko-KR" dirty="0"/>
              <a:t>You can download them from the class homepage.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2135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5A86C8-EFA3-4541-95B9-1184E2389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UEFI bootloader for xv6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7F7377-61A2-40B6-ACCF-F8A1A7ED3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Download </a:t>
            </a:r>
            <a:r>
              <a:rPr lang="en-US" altLang="ko-KR" dirty="0" err="1"/>
              <a:t>MyLoaderPkg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From the class homepage</a:t>
            </a:r>
          </a:p>
          <a:p>
            <a:endParaRPr lang="en-US" altLang="ko-KR" dirty="0"/>
          </a:p>
          <a:p>
            <a:r>
              <a:rPr lang="en-US" altLang="ko-KR" dirty="0"/>
              <a:t>Build the bootloader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4210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BB41F-7A39-4E59-9EE9-997D9E36D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Modifications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99D2CB-289E-401F-9C8E-673FD3E79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kernel.ld</a:t>
            </a:r>
            <a:endParaRPr lang="en-US" altLang="ko-KR" dirty="0"/>
          </a:p>
          <a:p>
            <a:pPr lvl="1"/>
            <a:r>
              <a:rPr lang="en-US" altLang="ko-KR" dirty="0"/>
              <a:t>.stab removed for kernel image load in UEFI loader</a:t>
            </a:r>
          </a:p>
          <a:p>
            <a:r>
              <a:rPr lang="en-US" altLang="ko-KR" dirty="0" err="1"/>
              <a:t>console.c</a:t>
            </a:r>
            <a:endParaRPr lang="en-US" altLang="ko-KR" dirty="0"/>
          </a:p>
          <a:p>
            <a:pPr lvl="1"/>
            <a:r>
              <a:rPr lang="en-US" altLang="ko-KR" dirty="0"/>
              <a:t>xv6 assumes using CGA </a:t>
            </a:r>
            <a:r>
              <a:rPr lang="en-US" altLang="ko-KR" dirty="0">
                <a:sym typeface="Wingdings" panose="05000000000000000000" pitchFamily="2" charset="2"/>
              </a:rPr>
              <a:t> removed.</a:t>
            </a:r>
          </a:p>
          <a:p>
            <a:pPr lvl="1"/>
            <a:r>
              <a:rPr lang="en-US" altLang="ko-KR" i="1" dirty="0" err="1">
                <a:sym typeface="Wingdings" panose="05000000000000000000" pitchFamily="2" charset="2"/>
              </a:rPr>
              <a:t>graphic_putc</a:t>
            </a:r>
            <a:r>
              <a:rPr lang="en-US" altLang="ko-KR" i="1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added for VGA output.</a:t>
            </a:r>
          </a:p>
          <a:p>
            <a:r>
              <a:rPr lang="en-US" altLang="ko-KR" dirty="0" err="1"/>
              <a:t>mp.c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mp_uefi.c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>
                <a:sym typeface="Wingdings" panose="05000000000000000000" pitchFamily="2" charset="2"/>
              </a:rPr>
              <a:t>Boot parameters from UEFI</a:t>
            </a:r>
          </a:p>
          <a:p>
            <a:r>
              <a:rPr lang="en-US" altLang="ko-KR" dirty="0" err="1"/>
              <a:t>pci.c</a:t>
            </a:r>
            <a:endParaRPr lang="en-US" altLang="ko-KR" dirty="0"/>
          </a:p>
          <a:p>
            <a:pPr lvl="1"/>
            <a:r>
              <a:rPr lang="en-US" altLang="ko-KR" dirty="0"/>
              <a:t>Support for PCI </a:t>
            </a:r>
            <a:r>
              <a:rPr lang="en-US" altLang="ko-KR"/>
              <a:t>(not working well yet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5803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F3CE8-8EF6-429C-9C12-9FBB38B84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xv6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740EF8-9308-4936-B55B-7F4A70190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Download modified source codes</a:t>
            </a:r>
          </a:p>
          <a:p>
            <a:pPr lvl="1"/>
            <a:r>
              <a:rPr lang="en-US" altLang="ko-KR" dirty="0"/>
              <a:t>From </a:t>
            </a:r>
            <a:r>
              <a:rPr lang="en-US" altLang="ko-KR" dirty="0" err="1"/>
              <a:t>github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Build</a:t>
            </a:r>
          </a:p>
          <a:p>
            <a:pPr lvl="1"/>
            <a:r>
              <a:rPr lang="en-US" altLang="ko-KR" dirty="0"/>
              <a:t>make </a:t>
            </a:r>
            <a:r>
              <a:rPr lang="en-US" altLang="ko-KR" dirty="0" err="1"/>
              <a:t>kernelmemfs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3441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47F07-FF8A-490F-B893-E0A3A3758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Running xv6 on QEMU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F28139-8C07-4E94-9FCA-D5FD4022C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/>
              <a:t>Assumption : EDK2 &amp; xv6 are on the same directory.</a:t>
            </a:r>
          </a:p>
          <a:p>
            <a:endParaRPr lang="en-US" altLang="ko-KR" dirty="0"/>
          </a:p>
          <a:p>
            <a:r>
              <a:rPr lang="en-US" altLang="ko-KR" dirty="0"/>
              <a:t>Make directories:</a:t>
            </a:r>
            <a:r>
              <a:rPr lang="ko-KR" altLang="en-US" dirty="0"/>
              <a:t> </a:t>
            </a:r>
            <a:r>
              <a:rPr lang="en-US" altLang="ko-KR" dirty="0"/>
              <a:t>image/</a:t>
            </a:r>
            <a:r>
              <a:rPr lang="en-US" altLang="ko-KR" dirty="0" err="1"/>
              <a:t>efi</a:t>
            </a:r>
            <a:r>
              <a:rPr lang="en-US" altLang="ko-KR" dirty="0"/>
              <a:t>/boot/</a:t>
            </a:r>
          </a:p>
          <a:p>
            <a:pPr marL="0" indent="0">
              <a:buNone/>
            </a:pPr>
            <a:r>
              <a:rPr lang="en-US" altLang="ko-KR" sz="2000" b="1" dirty="0"/>
              <a:t> </a:t>
            </a:r>
            <a:r>
              <a:rPr lang="en-US" altLang="ko-KR" sz="2100" b="1" dirty="0"/>
              <a:t>  $ </a:t>
            </a:r>
            <a:r>
              <a:rPr lang="en-US" altLang="ko-KR" sz="2100" b="1" dirty="0" err="1"/>
              <a:t>mkdir</a:t>
            </a:r>
            <a:r>
              <a:rPr lang="en-US" altLang="ko-KR" sz="2100" b="1" dirty="0"/>
              <a:t> –p image/</a:t>
            </a:r>
            <a:r>
              <a:rPr lang="en-US" altLang="ko-KR" sz="2100" b="1" dirty="0" err="1"/>
              <a:t>efi</a:t>
            </a:r>
            <a:r>
              <a:rPr lang="en-US" altLang="ko-KR" sz="2100" b="1" dirty="0"/>
              <a:t>/boot</a:t>
            </a:r>
            <a:endParaRPr lang="en-US" altLang="ko-KR" sz="2000" b="1" dirty="0"/>
          </a:p>
          <a:p>
            <a:endParaRPr lang="en-US" altLang="ko-KR" dirty="0"/>
          </a:p>
          <a:p>
            <a:r>
              <a:rPr lang="en-US" altLang="ko-KR" dirty="0"/>
              <a:t>Copy bootloader</a:t>
            </a:r>
          </a:p>
          <a:p>
            <a:pPr marL="0" indent="0">
              <a:buNone/>
            </a:pPr>
            <a:r>
              <a:rPr lang="en-US" altLang="ko-KR" sz="1900" b="1" dirty="0"/>
              <a:t>   $ cp Build/</a:t>
            </a:r>
            <a:r>
              <a:rPr lang="en-US" altLang="ko-KR" sz="1900" b="1" dirty="0" err="1"/>
              <a:t>MyLoaderPkg</a:t>
            </a:r>
            <a:r>
              <a:rPr lang="en-US" altLang="ko-KR" sz="1900" b="1" dirty="0"/>
              <a:t>/X64/DEBUG_GCC5/X64/</a:t>
            </a:r>
            <a:r>
              <a:rPr lang="en-US" altLang="ko-KR" sz="1900" b="1" dirty="0" err="1"/>
              <a:t>loader.efi</a:t>
            </a:r>
            <a:r>
              <a:rPr lang="en-US" altLang="ko-KR" sz="1900" b="1" dirty="0"/>
              <a:t> image/</a:t>
            </a:r>
            <a:r>
              <a:rPr lang="en-US" altLang="ko-KR" sz="1900" b="1" dirty="0" err="1"/>
              <a:t>efi</a:t>
            </a:r>
            <a:r>
              <a:rPr lang="en-US" altLang="ko-KR" sz="1900" b="1" dirty="0"/>
              <a:t>/boot/bootx64.efi</a:t>
            </a:r>
          </a:p>
          <a:p>
            <a:endParaRPr lang="en-US" altLang="ko-KR" dirty="0"/>
          </a:p>
          <a:p>
            <a:r>
              <a:rPr lang="en-US" altLang="ko-KR" dirty="0"/>
              <a:t>Copy kernel</a:t>
            </a:r>
          </a:p>
          <a:p>
            <a:pPr marL="0" indent="0">
              <a:buNone/>
            </a:pPr>
            <a:r>
              <a:rPr lang="en-US" altLang="ko-KR" sz="2100" b="1" dirty="0"/>
              <a:t>   $ cp xv6/</a:t>
            </a:r>
            <a:r>
              <a:rPr lang="en-US" altLang="ko-KR" sz="2100" b="1" dirty="0" err="1"/>
              <a:t>kernelmemfs</a:t>
            </a:r>
            <a:r>
              <a:rPr lang="en-US" altLang="ko-KR" sz="2100" b="1" dirty="0"/>
              <a:t> image/kernel</a:t>
            </a:r>
          </a:p>
          <a:p>
            <a:endParaRPr lang="en-US" altLang="ko-KR" dirty="0"/>
          </a:p>
          <a:p>
            <a:r>
              <a:rPr lang="en-US" altLang="ko-KR" dirty="0"/>
              <a:t>Run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r>
              <a:rPr lang="en-US" altLang="ko-KR" sz="2300" b="1" dirty="0"/>
              <a:t>$ ./run.sh</a:t>
            </a:r>
            <a:endParaRPr lang="en-US" altLang="ko-KR" b="1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7E0677-9FF5-4B2A-A68A-E72BCBA82942}"/>
              </a:ext>
            </a:extLst>
          </p:cNvPr>
          <p:cNvSpPr txBox="1"/>
          <p:nvPr/>
        </p:nvSpPr>
        <p:spPr>
          <a:xfrm>
            <a:off x="3431823" y="6123543"/>
            <a:ext cx="6356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Note: for some reason, i8254 timer doesn’t work correctly.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192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626814-A069-42D1-96E7-DC3F9769E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12" y="128167"/>
            <a:ext cx="10620375" cy="59817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2B2C164E-5A3D-46BC-84BD-E0232F673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019" y="644390"/>
            <a:ext cx="7607426" cy="621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3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2B7552-5E12-4200-8C65-9A5EF44B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run.sh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9B3AB2-2788-4CA6-88A7-C42ACA67F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qemu-system-x86_64 -bios /</a:t>
            </a:r>
            <a:r>
              <a:rPr lang="en-US" altLang="ko-KR" dirty="0" err="1"/>
              <a:t>usr</a:t>
            </a:r>
            <a:r>
              <a:rPr lang="en-US" altLang="ko-KR" dirty="0"/>
              <a:t>/share/</a:t>
            </a:r>
            <a:r>
              <a:rPr lang="en-US" altLang="ko-KR" dirty="0" err="1"/>
              <a:t>ovmf</a:t>
            </a:r>
            <a:r>
              <a:rPr lang="en-US" altLang="ko-KR" dirty="0"/>
              <a:t>/</a:t>
            </a:r>
            <a:r>
              <a:rPr lang="en-US" altLang="ko-KR" dirty="0" err="1"/>
              <a:t>OVMF.fd</a:t>
            </a:r>
            <a:r>
              <a:rPr lang="en-US" altLang="ko-KR" dirty="0"/>
              <a:t> \</a:t>
            </a:r>
          </a:p>
          <a:p>
            <a:pPr marL="0" indent="0">
              <a:buNone/>
            </a:pPr>
            <a:r>
              <a:rPr lang="en-US" altLang="ko-KR" dirty="0"/>
              <a:t>        -drive if=</a:t>
            </a:r>
            <a:r>
              <a:rPr lang="en-US" altLang="ko-KR" dirty="0" err="1"/>
              <a:t>ide,file</a:t>
            </a:r>
            <a:r>
              <a:rPr lang="en-US" altLang="ko-KR" dirty="0"/>
              <a:t>=</a:t>
            </a:r>
            <a:r>
              <a:rPr lang="en-US" altLang="ko-KR" dirty="0" err="1"/>
              <a:t>fat:rw:image,index</a:t>
            </a:r>
            <a:r>
              <a:rPr lang="en-US" altLang="ko-KR" dirty="0"/>
              <a:t>=0,media=disk \</a:t>
            </a:r>
          </a:p>
          <a:p>
            <a:pPr marL="0" indent="0">
              <a:buNone/>
            </a:pPr>
            <a:r>
              <a:rPr lang="en-US" altLang="ko-KR" dirty="0"/>
              <a:t>        -m 2048 -</a:t>
            </a:r>
            <a:r>
              <a:rPr lang="en-US" altLang="ko-KR" dirty="0" err="1"/>
              <a:t>smp</a:t>
            </a:r>
            <a:r>
              <a:rPr lang="en-US" altLang="ko-KR" dirty="0"/>
              <a:t> 4 \</a:t>
            </a:r>
          </a:p>
          <a:p>
            <a:pPr marL="0" indent="0">
              <a:buNone/>
            </a:pPr>
            <a:r>
              <a:rPr lang="en-US" altLang="ko-KR" dirty="0"/>
              <a:t>        -serial </a:t>
            </a:r>
            <a:r>
              <a:rPr lang="en-US" altLang="ko-KR" dirty="0" err="1"/>
              <a:t>mon:stdio</a:t>
            </a:r>
            <a:r>
              <a:rPr lang="en-US" altLang="ko-KR" dirty="0"/>
              <a:t> \</a:t>
            </a:r>
          </a:p>
          <a:p>
            <a:pPr marL="0" indent="0">
              <a:buNone/>
            </a:pPr>
            <a:r>
              <a:rPr lang="en-US" altLang="ko-KR" dirty="0"/>
              <a:t>        -</a:t>
            </a:r>
            <a:r>
              <a:rPr lang="en-US" altLang="ko-KR" dirty="0" err="1"/>
              <a:t>vga</a:t>
            </a:r>
            <a:r>
              <a:rPr lang="en-US" altLang="ko-KR" dirty="0"/>
              <a:t> std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xv6 only supports IDE, which is not supported in modern PCs.</a:t>
            </a:r>
          </a:p>
          <a:p>
            <a:pPr lvl="1"/>
            <a:r>
              <a:rPr lang="en-US" altLang="ko-KR" dirty="0"/>
              <a:t>File system is contained in the kernel image </a:t>
            </a:r>
            <a:r>
              <a:rPr lang="en-US" altLang="ko-KR" dirty="0">
                <a:sym typeface="Wingdings" panose="05000000000000000000" pitchFamily="2" charset="2"/>
              </a:rPr>
              <a:t> we use only memory file system.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3933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33318A8-0757-423A-BDE2-10F5AF644E90}"/>
              </a:ext>
            </a:extLst>
          </p:cNvPr>
          <p:cNvSpPr txBox="1"/>
          <p:nvPr/>
        </p:nvSpPr>
        <p:spPr>
          <a:xfrm>
            <a:off x="982134" y="654756"/>
            <a:ext cx="543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Try:</a:t>
            </a:r>
            <a:endParaRPr lang="ko-KR" alt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CCA8E5B-6E28-4955-94C6-CA7E73E87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1778" y="575154"/>
            <a:ext cx="7958666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$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ls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. 1 1 512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.. 1 1 512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README 2 2 1844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cat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2 3 12129 ...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$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echo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Hello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!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Hello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!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$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cat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README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xv6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is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re-implementation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of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Dennis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Ritchie's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and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Ken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Thompson's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Unix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Version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6 (v6). xv6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loosely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follows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structure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and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style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of v6, ...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$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grep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run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README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To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build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xv6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on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an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x86 ELF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machine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(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like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Linux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or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FreeBSD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),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run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make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".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Then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run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"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make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TOOLPREFIX=i386-jos-elf-". ...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$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cat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README |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grep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run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|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wc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6 70 376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$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echo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My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New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File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&gt;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newfile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$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cat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r>
              <a:rPr kumimoji="0" lang="ko-KR" altLang="ko-KR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newfile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ts val="26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My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 New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File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485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F56E8-F3E3-40D1-BF1C-BD0346657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Debugging with GDB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0A0265-BE5A-4F25-BF74-478033F63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ko-KR" dirty="0"/>
              <a:t>dbgrun.sh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In another terminal,</a:t>
            </a:r>
          </a:p>
          <a:p>
            <a:pPr lvl="1"/>
            <a:r>
              <a:rPr lang="en-US" altLang="ko-KR" dirty="0"/>
              <a:t>Change directory where “</a:t>
            </a:r>
            <a:r>
              <a:rPr lang="en-US" altLang="ko-KR" dirty="0" err="1"/>
              <a:t>kernelmemfs</a:t>
            </a:r>
            <a:r>
              <a:rPr lang="en-US" altLang="ko-KR" dirty="0"/>
              <a:t>” file exists.</a:t>
            </a:r>
          </a:p>
          <a:p>
            <a:pPr lvl="1"/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$ </a:t>
            </a:r>
            <a:r>
              <a:rPr lang="en-US" altLang="ko-KR" dirty="0" err="1"/>
              <a:t>gdb</a:t>
            </a:r>
            <a:r>
              <a:rPr lang="en-US" altLang="ko-KR" dirty="0"/>
              <a:t> </a:t>
            </a:r>
            <a:r>
              <a:rPr lang="en-US" altLang="ko-KR" dirty="0" err="1"/>
              <a:t>kernelmemfs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…</a:t>
            </a:r>
          </a:p>
          <a:p>
            <a:pPr marL="457200" lvl="1" indent="0">
              <a:buNone/>
            </a:pPr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set </a:t>
            </a:r>
            <a:r>
              <a:rPr lang="en-US" altLang="ko-KR" dirty="0" err="1"/>
              <a:t>archi</a:t>
            </a:r>
            <a:r>
              <a:rPr lang="en-US" altLang="ko-KR" dirty="0"/>
              <a:t> i386:x86-64</a:t>
            </a:r>
          </a:p>
          <a:p>
            <a:pPr marL="457200" lvl="1" indent="0">
              <a:buNone/>
            </a:pPr>
            <a:r>
              <a:rPr lang="en-US" altLang="ko-KR" dirty="0"/>
              <a:t>…</a:t>
            </a:r>
          </a:p>
          <a:p>
            <a:pPr marL="457200" lvl="1" indent="0">
              <a:buNone/>
            </a:pPr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target remote localhost:4321</a:t>
            </a:r>
          </a:p>
          <a:p>
            <a:pPr marL="457200" lvl="1" indent="0">
              <a:buNone/>
            </a:pPr>
            <a:r>
              <a:rPr lang="en-US" altLang="ko-KR" dirty="0"/>
              <a:t>…</a:t>
            </a:r>
          </a:p>
          <a:p>
            <a:pPr marL="457200" lvl="1" indent="0">
              <a:buNone/>
            </a:pPr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3333CD-4EC1-4E40-9541-632A48E18BE7}"/>
              </a:ext>
            </a:extLst>
          </p:cNvPr>
          <p:cNvSpPr txBox="1"/>
          <p:nvPr/>
        </p:nvSpPr>
        <p:spPr>
          <a:xfrm>
            <a:off x="3476978" y="1825625"/>
            <a:ext cx="41317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>
                <a:latin typeface="Cordia New" panose="020B0304020202020204" pitchFamily="34" charset="-34"/>
                <a:cs typeface="Cordia New" panose="020B0304020202020204" pitchFamily="34" charset="-34"/>
              </a:rPr>
              <a:t>qemu-system-x86_64 -bios /usr/share/ovmf/OVMF.fd \</a:t>
            </a:r>
          </a:p>
          <a:p>
            <a:r>
              <a:rPr lang="en-US" altLang="ko-KR" sz="1600" b="1">
                <a:latin typeface="Cordia New" panose="020B0304020202020204" pitchFamily="34" charset="-34"/>
                <a:cs typeface="Cordia New" panose="020B0304020202020204" pitchFamily="34" charset="-34"/>
              </a:rPr>
              <a:t>        -drive if=ide,file=fat:rw:image,index=0,media=disk \</a:t>
            </a:r>
          </a:p>
          <a:p>
            <a:r>
              <a:rPr lang="en-US" altLang="ko-KR" sz="1600" b="1">
                <a:latin typeface="Cordia New" panose="020B0304020202020204" pitchFamily="34" charset="-34"/>
                <a:cs typeface="Cordia New" panose="020B0304020202020204" pitchFamily="34" charset="-34"/>
              </a:rPr>
              <a:t>        -S -m 2048 -smp 4 \</a:t>
            </a:r>
          </a:p>
          <a:p>
            <a:r>
              <a:rPr lang="en-US" altLang="ko-KR" sz="1600" b="1">
                <a:latin typeface="Cordia New" panose="020B0304020202020204" pitchFamily="34" charset="-34"/>
                <a:cs typeface="Cordia New" panose="020B0304020202020204" pitchFamily="34" charset="-34"/>
              </a:rPr>
              <a:t>        -gdb tcp::4321 \</a:t>
            </a:r>
          </a:p>
          <a:p>
            <a:r>
              <a:rPr lang="en-US" altLang="ko-KR" sz="1600" b="1">
                <a:latin typeface="Cordia New" panose="020B0304020202020204" pitchFamily="34" charset="-34"/>
                <a:cs typeface="Cordia New" panose="020B0304020202020204" pitchFamily="34" charset="-34"/>
              </a:rPr>
              <a:t>        -serial mon:stdio \</a:t>
            </a:r>
          </a:p>
          <a:p>
            <a:r>
              <a:rPr lang="en-US" altLang="ko-KR" sz="1600" b="1">
                <a:latin typeface="Cordia New" panose="020B0304020202020204" pitchFamily="34" charset="-34"/>
                <a:cs typeface="Cordia New" panose="020B0304020202020204" pitchFamily="34" charset="-34"/>
              </a:rPr>
              <a:t>        -vga std</a:t>
            </a:r>
            <a:endParaRPr lang="ko-KR" altLang="en-US" sz="16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3093C09-7D24-4BA1-868A-5DDFDEE01C72}"/>
              </a:ext>
            </a:extLst>
          </p:cNvPr>
          <p:cNvSpPr/>
          <p:nvPr/>
        </p:nvSpPr>
        <p:spPr>
          <a:xfrm>
            <a:off x="3657600" y="2607732"/>
            <a:ext cx="1569156" cy="2144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0444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83D36F-11C9-44FF-A8E4-59846A4432A1}"/>
              </a:ext>
            </a:extLst>
          </p:cNvPr>
          <p:cNvSpPr txBox="1"/>
          <p:nvPr/>
        </p:nvSpPr>
        <p:spPr>
          <a:xfrm>
            <a:off x="508000" y="948266"/>
            <a:ext cx="112098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b exec</a:t>
            </a:r>
          </a:p>
          <a:p>
            <a:r>
              <a:rPr lang="en-US" altLang="ko-KR" dirty="0"/>
              <a:t>Breakpoint 1 at 0x80100b80: file </a:t>
            </a:r>
            <a:r>
              <a:rPr lang="en-US" altLang="ko-KR" dirty="0" err="1"/>
              <a:t>exec.c</a:t>
            </a:r>
            <a:r>
              <a:rPr lang="en-US" altLang="ko-KR" dirty="0"/>
              <a:t>, line 12.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c</a:t>
            </a:r>
          </a:p>
          <a:p>
            <a:r>
              <a:rPr lang="en-US" altLang="ko-KR" dirty="0"/>
              <a:t>Continuing.</a:t>
            </a:r>
          </a:p>
          <a:p>
            <a:r>
              <a:rPr lang="en-US" altLang="ko-KR" dirty="0"/>
              <a:t>[Switching to Thread 1.2]</a:t>
            </a:r>
          </a:p>
          <a:p>
            <a:endParaRPr lang="en-US" altLang="ko-KR" dirty="0"/>
          </a:p>
          <a:p>
            <a:r>
              <a:rPr lang="en-US" altLang="ko-KR" dirty="0"/>
              <a:t>Thread 3 hit Breakpoint 1, exec (path=0x9fefced0 "\034", </a:t>
            </a:r>
            <a:r>
              <a:rPr lang="en-US" altLang="ko-KR" dirty="0" err="1"/>
              <a:t>argv</a:t>
            </a:r>
            <a:r>
              <a:rPr lang="en-US" altLang="ko-KR" dirty="0"/>
              <a:t>=0x80) at exec.c:20</a:t>
            </a:r>
          </a:p>
          <a:p>
            <a:r>
              <a:rPr lang="en-US" altLang="ko-KR" dirty="0"/>
              <a:t>20        struct proc *</a:t>
            </a:r>
            <a:r>
              <a:rPr lang="en-US" altLang="ko-KR" dirty="0" err="1"/>
              <a:t>curproc</a:t>
            </a:r>
            <a:r>
              <a:rPr lang="en-US" altLang="ko-KR" dirty="0"/>
              <a:t> = </a:t>
            </a:r>
            <a:r>
              <a:rPr lang="en-US" altLang="ko-KR" dirty="0" err="1"/>
              <a:t>myproc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7A60657-44A4-4BF0-B41D-38CFD51760D6}"/>
              </a:ext>
            </a:extLst>
          </p:cNvPr>
          <p:cNvCxnSpPr/>
          <p:nvPr/>
        </p:nvCxnSpPr>
        <p:spPr>
          <a:xfrm flipH="1" flipV="1">
            <a:off x="5926667" y="3194756"/>
            <a:ext cx="1648177" cy="2342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D734549-F081-48F7-ABF8-B5C5D406A3D2}"/>
              </a:ext>
            </a:extLst>
          </p:cNvPr>
          <p:cNvSpPr txBox="1"/>
          <p:nvPr/>
        </p:nvSpPr>
        <p:spPr>
          <a:xfrm>
            <a:off x="7710311" y="3307644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exec of the first user program, /</a:t>
            </a:r>
            <a:r>
              <a:rPr lang="en-US" altLang="ko-KR" dirty="0" err="1"/>
              <a:t>init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8EB29-A2CA-493B-9770-193403A49ACA}"/>
              </a:ext>
            </a:extLst>
          </p:cNvPr>
          <p:cNvSpPr txBox="1"/>
          <p:nvPr/>
        </p:nvSpPr>
        <p:spPr>
          <a:xfrm>
            <a:off x="426030" y="3995678"/>
            <a:ext cx="110012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c</a:t>
            </a:r>
          </a:p>
          <a:p>
            <a:r>
              <a:rPr lang="en-US" altLang="ko-KR" dirty="0"/>
              <a:t>Continuing.</a:t>
            </a:r>
          </a:p>
          <a:p>
            <a:r>
              <a:rPr lang="en-US" altLang="ko-KR" dirty="0"/>
              <a:t>[Switching to Thread 1.4]</a:t>
            </a:r>
          </a:p>
          <a:p>
            <a:endParaRPr lang="en-US" altLang="ko-KR" dirty="0"/>
          </a:p>
          <a:p>
            <a:r>
              <a:rPr lang="en-US" altLang="ko-KR" dirty="0"/>
              <a:t>Thread 3 hit Breakpoint 1, exec (path=0x9fefbed0 "\366\a", </a:t>
            </a:r>
            <a:r>
              <a:rPr lang="en-US" altLang="ko-KR" dirty="0" err="1"/>
              <a:t>argv</a:t>
            </a:r>
            <a:r>
              <a:rPr lang="en-US" altLang="ko-KR" dirty="0"/>
              <a:t>=0x80) at exec.c:20</a:t>
            </a:r>
          </a:p>
          <a:p>
            <a:pPr marL="342900" indent="-342900">
              <a:buAutoNum type="arabicPlain" startAt="20"/>
            </a:pPr>
            <a:r>
              <a:rPr lang="en-US" altLang="ko-KR" dirty="0"/>
              <a:t>struct proc *</a:t>
            </a:r>
            <a:r>
              <a:rPr lang="en-US" altLang="ko-KR" dirty="0" err="1"/>
              <a:t>curproc</a:t>
            </a:r>
            <a:r>
              <a:rPr lang="en-US" altLang="ko-KR" dirty="0"/>
              <a:t> = </a:t>
            </a:r>
            <a:r>
              <a:rPr lang="en-US" altLang="ko-KR" dirty="0" err="1"/>
              <a:t>myproc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5E281740-696F-48C5-BA44-626F192D1C19}"/>
              </a:ext>
            </a:extLst>
          </p:cNvPr>
          <p:cNvCxnSpPr/>
          <p:nvPr/>
        </p:nvCxnSpPr>
        <p:spPr>
          <a:xfrm flipH="1" flipV="1">
            <a:off x="6112933" y="5757333"/>
            <a:ext cx="1981200" cy="6999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755AF1E-E69C-4E28-A6C1-74A467FDC68E}"/>
              </a:ext>
            </a:extLst>
          </p:cNvPr>
          <p:cNvSpPr txBox="1"/>
          <p:nvPr/>
        </p:nvSpPr>
        <p:spPr>
          <a:xfrm>
            <a:off x="8114014" y="6272578"/>
            <a:ext cx="351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exec of the shell (</a:t>
            </a:r>
            <a:r>
              <a:rPr lang="en-US" altLang="ko-KR" dirty="0" err="1"/>
              <a:t>sh</a:t>
            </a:r>
            <a:r>
              <a:rPr lang="en-US" altLang="ko-KR" dirty="0"/>
              <a:t>) from /</a:t>
            </a:r>
            <a:r>
              <a:rPr lang="en-US" altLang="ko-KR" dirty="0" err="1"/>
              <a:t>init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38769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2369F-078E-4FEC-84D4-0B4B94E99C4D}"/>
              </a:ext>
            </a:extLst>
          </p:cNvPr>
          <p:cNvSpPr txBox="1"/>
          <p:nvPr/>
        </p:nvSpPr>
        <p:spPr>
          <a:xfrm>
            <a:off x="1501421" y="891822"/>
            <a:ext cx="20658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c</a:t>
            </a:r>
          </a:p>
          <a:p>
            <a:r>
              <a:rPr lang="en-US" altLang="ko-KR" dirty="0"/>
              <a:t>Continuing.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DE8EE7-5103-49D7-A59D-D41677AFAA04}"/>
              </a:ext>
            </a:extLst>
          </p:cNvPr>
          <p:cNvSpPr txBox="1"/>
          <p:nvPr/>
        </p:nvSpPr>
        <p:spPr>
          <a:xfrm>
            <a:off x="6096000" y="1682658"/>
            <a:ext cx="36224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You can see the prompt ($) now.</a:t>
            </a:r>
          </a:p>
          <a:p>
            <a:r>
              <a:rPr lang="en-US" altLang="ko-KR" dirty="0"/>
              <a:t>Type in :</a:t>
            </a:r>
          </a:p>
          <a:p>
            <a:r>
              <a:rPr lang="en-US" altLang="ko-KR" dirty="0">
                <a:solidFill>
                  <a:srgbClr val="000000"/>
                </a:solidFill>
                <a:latin typeface="Arial Unicode MS"/>
              </a:rPr>
              <a:t>  </a:t>
            </a:r>
            <a:r>
              <a:rPr lang="ko-KR" altLang="ko-KR" dirty="0">
                <a:solidFill>
                  <a:srgbClr val="000000"/>
                </a:solidFill>
                <a:latin typeface="Arial Unicode MS"/>
              </a:rPr>
              <a:t>$ </a:t>
            </a:r>
            <a:r>
              <a:rPr lang="ko-KR" altLang="ko-KR" b="1" dirty="0" err="1">
                <a:solidFill>
                  <a:srgbClr val="000000"/>
                </a:solidFill>
                <a:latin typeface="Arial Unicode MS"/>
              </a:rPr>
              <a:t>cat</a:t>
            </a:r>
            <a:r>
              <a:rPr lang="ko-KR" altLang="ko-KR" b="1" dirty="0">
                <a:solidFill>
                  <a:srgbClr val="000000"/>
                </a:solidFill>
                <a:latin typeface="Arial Unicode MS"/>
              </a:rPr>
              <a:t> README</a:t>
            </a:r>
            <a:r>
              <a:rPr lang="ko-KR" altLang="ko-KR" sz="1400" dirty="0"/>
              <a:t> </a:t>
            </a:r>
            <a:endParaRPr lang="ko-KR" altLang="ko-KR" sz="4000" dirty="0">
              <a:latin typeface="Arial" panose="020B060402020202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982CC6-8DEE-40B0-B285-032FC18EF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84" y="1755729"/>
            <a:ext cx="4039164" cy="9621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0524BB5-5781-4ABF-9105-83D2C904AF0D}"/>
              </a:ext>
            </a:extLst>
          </p:cNvPr>
          <p:cNvSpPr txBox="1"/>
          <p:nvPr/>
        </p:nvSpPr>
        <p:spPr>
          <a:xfrm>
            <a:off x="1388532" y="3127022"/>
            <a:ext cx="102728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Thread 3 hit Breakpoint 1, exec (path=0x9fe32ed0 "\340\031", </a:t>
            </a:r>
            <a:r>
              <a:rPr lang="en-US" altLang="ko-KR" dirty="0" err="1"/>
              <a:t>argv</a:t>
            </a:r>
            <a:r>
              <a:rPr lang="en-US" altLang="ko-KR" dirty="0"/>
              <a:t>=0x80) at exec.c:20</a:t>
            </a:r>
          </a:p>
          <a:p>
            <a:r>
              <a:rPr lang="en-US" altLang="ko-KR" dirty="0"/>
              <a:t>20        struct proc *</a:t>
            </a:r>
            <a:r>
              <a:rPr lang="en-US" altLang="ko-KR" dirty="0" err="1"/>
              <a:t>curproc</a:t>
            </a:r>
            <a:r>
              <a:rPr lang="en-US" altLang="ko-KR" dirty="0"/>
              <a:t> = </a:t>
            </a:r>
            <a:r>
              <a:rPr lang="en-US" altLang="ko-KR" dirty="0" err="1"/>
              <a:t>myproc</a:t>
            </a:r>
            <a:r>
              <a:rPr lang="en-US" altLang="ko-KR" dirty="0"/>
              <a:t>();</a:t>
            </a:r>
          </a:p>
          <a:p>
            <a:r>
              <a:rPr lang="en-US" altLang="ko-KR" dirty="0"/>
              <a:t>(</a:t>
            </a:r>
            <a:r>
              <a:rPr lang="en-US" altLang="ko-KR" dirty="0" err="1"/>
              <a:t>gdb</a:t>
            </a:r>
            <a:r>
              <a:rPr lang="en-US" altLang="ko-KR" dirty="0"/>
              <a:t>) 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876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606612-D8C9-4BB4-A9D8-5099832A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User programs in xv6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BCB551-9EEA-4FCC-90AE-34D3A4C7CF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Programs cannot be compiled on xv6.</a:t>
            </a:r>
          </a:p>
          <a:p>
            <a:pPr lvl="1"/>
            <a:r>
              <a:rPr lang="en-US" altLang="ko-KR" dirty="0"/>
              <a:t>You need to make a program and then include it to the memory file system.</a:t>
            </a:r>
          </a:p>
          <a:p>
            <a:endParaRPr lang="en-US" altLang="ko-KR" dirty="0"/>
          </a:p>
          <a:p>
            <a:r>
              <a:rPr lang="en-US" altLang="ko-KR" dirty="0"/>
              <a:t>Let’s make “Hello, world”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3299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79E55-EE80-4EE9-B2CA-BC9A31166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Hello, world in xv6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364E6E-AEC4-47E3-9752-9EC4A3BA3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72200" cy="4351338"/>
          </a:xfrm>
        </p:spPr>
        <p:txBody>
          <a:bodyPr/>
          <a:lstStyle/>
          <a:p>
            <a:r>
              <a:rPr lang="en-US" altLang="ko-KR" dirty="0"/>
              <a:t>We cannot use </a:t>
            </a:r>
            <a:r>
              <a:rPr lang="en-US" altLang="ko-KR" dirty="0" err="1"/>
              <a:t>stdio.h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Use the following header files. </a:t>
            </a:r>
          </a:p>
          <a:p>
            <a:pPr marL="457200" lvl="1" indent="0">
              <a:buNone/>
            </a:pPr>
            <a:r>
              <a:rPr lang="en-US" altLang="ko-KR" dirty="0"/>
              <a:t>“</a:t>
            </a:r>
            <a:r>
              <a:rPr lang="en-US" altLang="ko-KR" dirty="0" err="1"/>
              <a:t>types.h</a:t>
            </a:r>
            <a:r>
              <a:rPr lang="en-US" altLang="ko-KR" dirty="0"/>
              <a:t>” : header file for variable types </a:t>
            </a:r>
          </a:p>
          <a:p>
            <a:pPr marL="457200" lvl="1" indent="0">
              <a:buNone/>
            </a:pPr>
            <a:r>
              <a:rPr lang="en-US" altLang="ko-KR" dirty="0"/>
              <a:t>“</a:t>
            </a:r>
            <a:r>
              <a:rPr lang="en-US" altLang="ko-KR" dirty="0" err="1"/>
              <a:t>user.h</a:t>
            </a:r>
            <a:r>
              <a:rPr lang="en-US" altLang="ko-KR" dirty="0"/>
              <a:t>” : header file for system calls </a:t>
            </a:r>
          </a:p>
          <a:p>
            <a:pPr marL="457200" lvl="1" indent="0">
              <a:buNone/>
            </a:pPr>
            <a:r>
              <a:rPr lang="en-US" altLang="ko-KR" dirty="0"/>
              <a:t>“</a:t>
            </a:r>
            <a:r>
              <a:rPr lang="en-US" altLang="ko-KR" dirty="0" err="1"/>
              <a:t>fcntl.h</a:t>
            </a:r>
            <a:r>
              <a:rPr lang="en-US" altLang="ko-KR" dirty="0"/>
              <a:t>” : header file for file IO </a:t>
            </a:r>
          </a:p>
          <a:p>
            <a:endParaRPr lang="en-US" altLang="ko-KR" dirty="0"/>
          </a:p>
          <a:p>
            <a:r>
              <a:rPr lang="en-US" altLang="ko-KR" dirty="0"/>
              <a:t>You need to add your program in the </a:t>
            </a:r>
            <a:r>
              <a:rPr lang="en-US" altLang="ko-KR" dirty="0" err="1"/>
              <a:t>Makefile</a:t>
            </a:r>
            <a:r>
              <a:rPr lang="en-US" altLang="ko-KR" dirty="0"/>
              <a:t> (UPROGS)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C0574BB-53DC-48B5-ACB9-DDE2E73DC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4670" y="1995959"/>
            <a:ext cx="1943371" cy="336279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746431A-C0C9-4019-890F-A5E3711C88F3}"/>
              </a:ext>
            </a:extLst>
          </p:cNvPr>
          <p:cNvSpPr/>
          <p:nvPr/>
        </p:nvSpPr>
        <p:spPr>
          <a:xfrm>
            <a:off x="7281333" y="5147733"/>
            <a:ext cx="2314223" cy="32737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3F02C97-DEF3-4311-92A8-869E95FD1AD7}"/>
              </a:ext>
            </a:extLst>
          </p:cNvPr>
          <p:cNvCxnSpPr/>
          <p:nvPr/>
        </p:nvCxnSpPr>
        <p:spPr>
          <a:xfrm flipH="1">
            <a:off x="9674578" y="4289778"/>
            <a:ext cx="451555" cy="7224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235BC7-0C7C-4E3E-823A-F9DCE575DFA6}"/>
              </a:ext>
            </a:extLst>
          </p:cNvPr>
          <p:cNvSpPr txBox="1"/>
          <p:nvPr/>
        </p:nvSpPr>
        <p:spPr>
          <a:xfrm>
            <a:off x="10184033" y="3928534"/>
            <a:ext cx="1596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Add</a:t>
            </a:r>
            <a:r>
              <a:rPr lang="ko-KR" altLang="en-US" dirty="0"/>
              <a:t> </a:t>
            </a:r>
            <a:r>
              <a:rPr lang="en-US" altLang="ko-KR" dirty="0"/>
              <a:t>program</a:t>
            </a:r>
          </a:p>
        </p:txBody>
      </p:sp>
    </p:spTree>
    <p:extLst>
      <p:ext uri="{BB962C8B-B14F-4D97-AF65-F5344CB8AC3E}">
        <p14:creationId xmlns:p14="http://schemas.microsoft.com/office/powerpoint/2010/main" val="2925123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4257C-A371-4F63-8DE4-795EC730A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Hello, world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8DD62-F330-427D-806F-504499FE1634}"/>
              </a:ext>
            </a:extLst>
          </p:cNvPr>
          <p:cNvSpPr txBox="1"/>
          <p:nvPr/>
        </p:nvSpPr>
        <p:spPr>
          <a:xfrm>
            <a:off x="1670756" y="1817511"/>
            <a:ext cx="48718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types.h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#include "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user.h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" </a:t>
            </a:r>
          </a:p>
          <a:p>
            <a:endParaRPr lang="en-US" altLang="ko-KR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int main(int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, char *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[]) {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(1,"Hello world!\n");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 exit();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A7BED-9AB8-4093-ABED-1D82B2EB470E}"/>
              </a:ext>
            </a:extLst>
          </p:cNvPr>
          <p:cNvSpPr txBox="1"/>
          <p:nvPr/>
        </p:nvSpPr>
        <p:spPr>
          <a:xfrm>
            <a:off x="1388533" y="4560711"/>
            <a:ext cx="2790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Rebuild xv6 and run.</a:t>
            </a:r>
          </a:p>
          <a:p>
            <a:r>
              <a:rPr lang="en-US" altLang="ko-KR" dirty="0"/>
              <a:t>Then, test your program.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7709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9E7AA-4054-4926-AA69-598C19CE4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To-do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822230-BC12-4B0A-8755-766DB4AEB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Make hello2 application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Expected output 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2E4015-32B1-478A-A314-610FD4D3A853}"/>
              </a:ext>
            </a:extLst>
          </p:cNvPr>
          <p:cNvSpPr txBox="1"/>
          <p:nvPr/>
        </p:nvSpPr>
        <p:spPr>
          <a:xfrm>
            <a:off x="1944024" y="3429000"/>
            <a:ext cx="36311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$ hello2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Hello world!</a:t>
            </a:r>
          </a:p>
          <a:p>
            <a:r>
              <a:rPr lang="en-US" altLang="ko-KR" dirty="0">
                <a:latin typeface="Courier New" panose="02070309020205020404" pitchFamily="49" charset="0"/>
                <a:cs typeface="Courier New" panose="02070309020205020404" pitchFamily="49" charset="0"/>
              </a:rPr>
              <a:t>My student # is 20250315.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D40605D-C002-48A7-A15A-A4A67B2D80E8}"/>
              </a:ext>
            </a:extLst>
          </p:cNvPr>
          <p:cNvCxnSpPr/>
          <p:nvPr/>
        </p:nvCxnSpPr>
        <p:spPr>
          <a:xfrm>
            <a:off x="4267202" y="4337441"/>
            <a:ext cx="108256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1B158124-707A-462F-A60B-5EEBBEF460D9}"/>
              </a:ext>
            </a:extLst>
          </p:cNvPr>
          <p:cNvCxnSpPr/>
          <p:nvPr/>
        </p:nvCxnSpPr>
        <p:spPr>
          <a:xfrm flipH="1" flipV="1">
            <a:off x="4929353" y="4424207"/>
            <a:ext cx="687836" cy="893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2D282A6-DCF2-4FF7-AB42-5E7AA58403E2}"/>
              </a:ext>
            </a:extLst>
          </p:cNvPr>
          <p:cNvSpPr txBox="1"/>
          <p:nvPr/>
        </p:nvSpPr>
        <p:spPr>
          <a:xfrm>
            <a:off x="5812222" y="5359627"/>
            <a:ext cx="3785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Make your student # appear here.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1947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919</Words>
  <Application>Microsoft Office PowerPoint</Application>
  <PresentationFormat>와이드스크린</PresentationFormat>
  <Paragraphs>156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3" baseType="lpstr">
      <vt:lpstr>Arial Unicode MS</vt:lpstr>
      <vt:lpstr>맑은 고딕</vt:lpstr>
      <vt:lpstr>Arial</vt:lpstr>
      <vt:lpstr>Cordia New</vt:lpstr>
      <vt:lpstr>Courier New</vt:lpstr>
      <vt:lpstr>Wingdings</vt:lpstr>
      <vt:lpstr>Office 테마</vt:lpstr>
      <vt:lpstr>Lab 1. Warming up</vt:lpstr>
      <vt:lpstr>xv6</vt:lpstr>
      <vt:lpstr>UEFI bootloader for xv6</vt:lpstr>
      <vt:lpstr>Modifications</vt:lpstr>
      <vt:lpstr>Build xv6</vt:lpstr>
      <vt:lpstr>Running xv6 on QEMU</vt:lpstr>
      <vt:lpstr>PowerPoint 프레젠테이션</vt:lpstr>
      <vt:lpstr>run.sh</vt:lpstr>
      <vt:lpstr>PowerPoint 프레젠테이션</vt:lpstr>
      <vt:lpstr>Debugging with GDB</vt:lpstr>
      <vt:lpstr>PowerPoint 프레젠테이션</vt:lpstr>
      <vt:lpstr>PowerPoint 프레젠테이션</vt:lpstr>
      <vt:lpstr>User programs in xv6</vt:lpstr>
      <vt:lpstr>Hello, world in xv6</vt:lpstr>
      <vt:lpstr>Hello, world</vt:lpstr>
      <vt:lpstr>To-do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Moonju Park</dc:creator>
  <cp:lastModifiedBy>Moonju Park</cp:lastModifiedBy>
  <cp:revision>33</cp:revision>
  <dcterms:created xsi:type="dcterms:W3CDTF">2024-01-30T06:15:39Z</dcterms:created>
  <dcterms:modified xsi:type="dcterms:W3CDTF">2025-03-14T20:59:42Z</dcterms:modified>
</cp:coreProperties>
</file>